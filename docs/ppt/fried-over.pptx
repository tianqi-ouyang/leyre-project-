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Relationship Id="rId9" Type="http://schemas.openxmlformats.org/officeDocument/2006/relationships/slide" Target="slides/slide2.xml"/>
<Relationship Id="rId10" Type="http://schemas.openxmlformats.org/officeDocument/2006/relationships/slide" Target="slides/slide3.xml"/>
<Relationship Id="rId11" Type="http://schemas.openxmlformats.org/officeDocument/2006/relationships/slide" Target="slides/slide4.xml"/>
<Relationship Id="rId12" Type="http://schemas.openxmlformats.org/officeDocument/2006/relationships/slide" Target="slides/slide5.xml"/>
<Relationship Id="rId13" Type="http://schemas.openxmlformats.org/officeDocument/2006/relationships/slide" Target="slides/slide6.xml"/>
<Relationship Id="rId14" Type="http://schemas.openxmlformats.org/officeDocument/2006/relationships/slide" Target="slides/slide7.xml"/>
<Relationship Id="rId15" Type="http://schemas.openxmlformats.org/officeDocument/2006/relationships/slide" Target="slides/slide8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2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3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4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5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6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7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8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457200" y="1097280"/>
            <a:ext cx="8229600" cy="4700016"/>
            <a:chOff x="457200" y="1097280"/>
            <a:chExt cx="8229600" cy="4700016"/>
          </a:xfrm>
        </p:grpSpPr>
        <p:sp>
          <p:nvSpPr>
            <p:cNvPr id="3" name="rc3"/>
            <p:cNvSpPr/>
            <p:nvPr/>
          </p:nvSpPr>
          <p:spPr>
            <a:xfrm>
              <a:off x="457200" y="1097280"/>
              <a:ext cx="8229600" cy="47000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79697" y="4740989"/>
              <a:ext cx="6208163" cy="0"/>
            </a:xfrm>
            <a:custGeom>
              <a:avLst/>
              <a:pathLst>
                <a:path w="6208163" h="0">
                  <a:moveTo>
                    <a:pt x="0" y="0"/>
                  </a:moveTo>
                  <a:lnTo>
                    <a:pt x="6208163" y="0"/>
                  </a:lnTo>
                  <a:lnTo>
                    <a:pt x="620816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79697" y="4030875"/>
              <a:ext cx="6208163" cy="0"/>
            </a:xfrm>
            <a:custGeom>
              <a:avLst/>
              <a:pathLst>
                <a:path w="6208163" h="0">
                  <a:moveTo>
                    <a:pt x="0" y="0"/>
                  </a:moveTo>
                  <a:lnTo>
                    <a:pt x="6208163" y="0"/>
                  </a:lnTo>
                  <a:lnTo>
                    <a:pt x="620816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79697" y="3320761"/>
              <a:ext cx="6208163" cy="0"/>
            </a:xfrm>
            <a:custGeom>
              <a:avLst/>
              <a:pathLst>
                <a:path w="6208163" h="0">
                  <a:moveTo>
                    <a:pt x="0" y="0"/>
                  </a:moveTo>
                  <a:lnTo>
                    <a:pt x="6208163" y="0"/>
                  </a:lnTo>
                  <a:lnTo>
                    <a:pt x="620816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79697" y="2610648"/>
              <a:ext cx="6208163" cy="0"/>
            </a:xfrm>
            <a:custGeom>
              <a:avLst/>
              <a:pathLst>
                <a:path w="6208163" h="0">
                  <a:moveTo>
                    <a:pt x="0" y="0"/>
                  </a:moveTo>
                  <a:lnTo>
                    <a:pt x="6208163" y="0"/>
                  </a:lnTo>
                  <a:lnTo>
                    <a:pt x="620816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879697" y="1900534"/>
              <a:ext cx="6208163" cy="0"/>
            </a:xfrm>
            <a:custGeom>
              <a:avLst/>
              <a:pathLst>
                <a:path w="6208163" h="0">
                  <a:moveTo>
                    <a:pt x="0" y="0"/>
                  </a:moveTo>
                  <a:lnTo>
                    <a:pt x="6208163" y="0"/>
                  </a:lnTo>
                  <a:lnTo>
                    <a:pt x="620816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002906" y="1367948"/>
              <a:ext cx="0" cy="3905626"/>
            </a:xfrm>
            <a:custGeom>
              <a:avLst/>
              <a:pathLst>
                <a:path w="0" h="3905626">
                  <a:moveTo>
                    <a:pt x="0" y="39056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990154" y="1367948"/>
              <a:ext cx="0" cy="3905626"/>
            </a:xfrm>
            <a:custGeom>
              <a:avLst/>
              <a:pathLst>
                <a:path w="0" h="3905626">
                  <a:moveTo>
                    <a:pt x="0" y="39056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977403" y="1367948"/>
              <a:ext cx="0" cy="3905626"/>
            </a:xfrm>
            <a:custGeom>
              <a:avLst/>
              <a:pathLst>
                <a:path w="0" h="3905626">
                  <a:moveTo>
                    <a:pt x="0" y="39056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6964651" y="1367948"/>
              <a:ext cx="0" cy="3905626"/>
            </a:xfrm>
            <a:custGeom>
              <a:avLst/>
              <a:pathLst>
                <a:path w="0" h="3905626">
                  <a:moveTo>
                    <a:pt x="0" y="39056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79697" y="5096046"/>
              <a:ext cx="6208163" cy="0"/>
            </a:xfrm>
            <a:custGeom>
              <a:avLst/>
              <a:pathLst>
                <a:path w="6208163" h="0">
                  <a:moveTo>
                    <a:pt x="0" y="0"/>
                  </a:moveTo>
                  <a:lnTo>
                    <a:pt x="6208163" y="0"/>
                  </a:lnTo>
                  <a:lnTo>
                    <a:pt x="620816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79697" y="4385932"/>
              <a:ext cx="6208163" cy="0"/>
            </a:xfrm>
            <a:custGeom>
              <a:avLst/>
              <a:pathLst>
                <a:path w="6208163" h="0">
                  <a:moveTo>
                    <a:pt x="0" y="0"/>
                  </a:moveTo>
                  <a:lnTo>
                    <a:pt x="6208163" y="0"/>
                  </a:lnTo>
                  <a:lnTo>
                    <a:pt x="620816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79697" y="3675818"/>
              <a:ext cx="6208163" cy="0"/>
            </a:xfrm>
            <a:custGeom>
              <a:avLst/>
              <a:pathLst>
                <a:path w="6208163" h="0">
                  <a:moveTo>
                    <a:pt x="0" y="0"/>
                  </a:moveTo>
                  <a:lnTo>
                    <a:pt x="6208163" y="0"/>
                  </a:lnTo>
                  <a:lnTo>
                    <a:pt x="620816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79697" y="2965704"/>
              <a:ext cx="6208163" cy="0"/>
            </a:xfrm>
            <a:custGeom>
              <a:avLst/>
              <a:pathLst>
                <a:path w="6208163" h="0">
                  <a:moveTo>
                    <a:pt x="0" y="0"/>
                  </a:moveTo>
                  <a:lnTo>
                    <a:pt x="6208163" y="0"/>
                  </a:lnTo>
                  <a:lnTo>
                    <a:pt x="620816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79697" y="2255591"/>
              <a:ext cx="6208163" cy="0"/>
            </a:xfrm>
            <a:custGeom>
              <a:avLst/>
              <a:pathLst>
                <a:path w="6208163" h="0">
                  <a:moveTo>
                    <a:pt x="0" y="0"/>
                  </a:moveTo>
                  <a:lnTo>
                    <a:pt x="6208163" y="0"/>
                  </a:lnTo>
                  <a:lnTo>
                    <a:pt x="620816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79697" y="1545477"/>
              <a:ext cx="6208163" cy="0"/>
            </a:xfrm>
            <a:custGeom>
              <a:avLst/>
              <a:pathLst>
                <a:path w="6208163" h="0">
                  <a:moveTo>
                    <a:pt x="0" y="0"/>
                  </a:moveTo>
                  <a:lnTo>
                    <a:pt x="6208163" y="0"/>
                  </a:lnTo>
                  <a:lnTo>
                    <a:pt x="620816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1996530" y="1367948"/>
              <a:ext cx="0" cy="3905626"/>
            </a:xfrm>
            <a:custGeom>
              <a:avLst/>
              <a:pathLst>
                <a:path w="0" h="3905626">
                  <a:moveTo>
                    <a:pt x="0" y="39056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3983779" y="1367948"/>
              <a:ext cx="0" cy="3905626"/>
            </a:xfrm>
            <a:custGeom>
              <a:avLst/>
              <a:pathLst>
                <a:path w="0" h="3905626">
                  <a:moveTo>
                    <a:pt x="0" y="39056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5971027" y="1367948"/>
              <a:ext cx="0" cy="3905626"/>
            </a:xfrm>
            <a:custGeom>
              <a:avLst/>
              <a:pathLst>
                <a:path w="0" h="3905626">
                  <a:moveTo>
                    <a:pt x="0" y="39056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1161886" y="4579599"/>
              <a:ext cx="317959" cy="516446"/>
            </a:xfrm>
            <a:prstGeom prst="rect">
              <a:avLst/>
            </a:prstGeom>
            <a:solidFill>
              <a:srgbClr val="E76BF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1499718" y="4536562"/>
              <a:ext cx="317959" cy="559483"/>
            </a:xfrm>
            <a:prstGeom prst="rect">
              <a:avLst/>
            </a:prstGeom>
            <a:solidFill>
              <a:srgbClr val="00BF7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1837550" y="4536562"/>
              <a:ext cx="317959" cy="559483"/>
            </a:xfrm>
            <a:prstGeom prst="rect">
              <a:avLst/>
            </a:prstGeom>
            <a:solidFill>
              <a:srgbClr val="00B0F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2175382" y="4063153"/>
              <a:ext cx="317959" cy="1032892"/>
            </a:xfrm>
            <a:prstGeom prst="rect">
              <a:avLst/>
            </a:prstGeom>
            <a:solidFill>
              <a:srgbClr val="F8766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2513215" y="3374558"/>
              <a:ext cx="317959" cy="1721488"/>
            </a:xfrm>
            <a:prstGeom prst="rect">
              <a:avLst/>
            </a:prstGeom>
            <a:solidFill>
              <a:srgbClr val="A3A5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3149134" y="3761756"/>
              <a:ext cx="317959" cy="1334290"/>
            </a:xfrm>
            <a:prstGeom prst="rect">
              <a:avLst/>
            </a:prstGeom>
            <a:solidFill>
              <a:srgbClr val="E76BF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3486966" y="3399914"/>
              <a:ext cx="317959" cy="1696131"/>
            </a:xfrm>
            <a:prstGeom prst="rect">
              <a:avLst/>
            </a:prstGeom>
            <a:solidFill>
              <a:srgbClr val="00BF7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3824799" y="3399914"/>
              <a:ext cx="317959" cy="1696131"/>
            </a:xfrm>
            <a:prstGeom prst="rect">
              <a:avLst/>
            </a:prstGeom>
            <a:solidFill>
              <a:srgbClr val="00B0F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4162631" y="3264224"/>
              <a:ext cx="317959" cy="1831822"/>
            </a:xfrm>
            <a:prstGeom prst="rect">
              <a:avLst/>
            </a:prstGeom>
            <a:solidFill>
              <a:srgbClr val="F8766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4500463" y="2246545"/>
              <a:ext cx="317959" cy="2849501"/>
            </a:xfrm>
            <a:prstGeom prst="rect">
              <a:avLst/>
            </a:prstGeom>
            <a:solidFill>
              <a:srgbClr val="A3A5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5136383" y="3399314"/>
              <a:ext cx="317959" cy="1696732"/>
            </a:xfrm>
            <a:prstGeom prst="rect">
              <a:avLst/>
            </a:prstGeom>
            <a:solidFill>
              <a:srgbClr val="E76BF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5474215" y="2708052"/>
              <a:ext cx="317959" cy="2387993"/>
            </a:xfrm>
            <a:prstGeom prst="rect">
              <a:avLst/>
            </a:prstGeom>
            <a:solidFill>
              <a:srgbClr val="00BF7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5812047" y="2708052"/>
              <a:ext cx="317959" cy="2387993"/>
            </a:xfrm>
            <a:prstGeom prst="rect">
              <a:avLst/>
            </a:prstGeom>
            <a:solidFill>
              <a:srgbClr val="00B0F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" name="rc35"/>
            <p:cNvSpPr/>
            <p:nvPr/>
          </p:nvSpPr>
          <p:spPr>
            <a:xfrm>
              <a:off x="6149879" y="2016791"/>
              <a:ext cx="317959" cy="3079254"/>
            </a:xfrm>
            <a:prstGeom prst="rect">
              <a:avLst/>
            </a:prstGeom>
            <a:solidFill>
              <a:srgbClr val="F8766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" name="rc36"/>
            <p:cNvSpPr/>
            <p:nvPr/>
          </p:nvSpPr>
          <p:spPr>
            <a:xfrm>
              <a:off x="6487711" y="1576898"/>
              <a:ext cx="317959" cy="3519148"/>
            </a:xfrm>
            <a:prstGeom prst="rect">
              <a:avLst/>
            </a:prstGeom>
            <a:solidFill>
              <a:srgbClr val="A3A5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" name="tx37"/>
            <p:cNvSpPr/>
            <p:nvPr/>
          </p:nvSpPr>
          <p:spPr>
            <a:xfrm>
              <a:off x="754887" y="505599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692708" y="4345881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692708" y="3635768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92708" y="2925654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692708" y="2215540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692708" y="1505426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1785441" y="5336204"/>
              <a:ext cx="4221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Non-frail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1793076" y="5456905"/>
              <a:ext cx="40690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(N=165)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3788234" y="5336204"/>
              <a:ext cx="39108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Pre-frail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3780325" y="5456905"/>
              <a:ext cx="40690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(N=314)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5862442" y="5336204"/>
              <a:ext cx="217170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Frail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5767573" y="5456905"/>
              <a:ext cx="40690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(N=113)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3459873" y="5596581"/>
              <a:ext cx="1047810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Fried frailty class</a:t>
              </a:r>
            </a:p>
          </p:txBody>
        </p:sp>
        <p:sp>
          <p:nvSpPr>
            <p:cNvPr id="50" name="tx50"/>
            <p:cNvSpPr/>
            <p:nvPr/>
          </p:nvSpPr>
          <p:spPr>
            <a:xfrm rot="-5400000">
              <a:off x="169121" y="3270652"/>
              <a:ext cx="815553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% overdosed</a:t>
              </a:r>
            </a:p>
          </p:txBody>
        </p:sp>
        <p:sp>
          <p:nvSpPr>
            <p:cNvPr id="51" name="rc51"/>
            <p:cNvSpPr/>
            <p:nvPr/>
          </p:nvSpPr>
          <p:spPr>
            <a:xfrm>
              <a:off x="7305628" y="2781121"/>
              <a:ext cx="201455" cy="201456"/>
            </a:xfrm>
            <a:prstGeom prst="rect">
              <a:avLst/>
            </a:prstGeom>
            <a:solidFill>
              <a:srgbClr val="F8766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" name="rc52"/>
            <p:cNvSpPr/>
            <p:nvPr/>
          </p:nvSpPr>
          <p:spPr>
            <a:xfrm>
              <a:off x="7305628" y="3000577"/>
              <a:ext cx="201455" cy="201456"/>
            </a:xfrm>
            <a:prstGeom prst="rect">
              <a:avLst/>
            </a:prstGeom>
            <a:solidFill>
              <a:srgbClr val="A3A5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" name="rc53"/>
            <p:cNvSpPr/>
            <p:nvPr/>
          </p:nvSpPr>
          <p:spPr>
            <a:xfrm>
              <a:off x="7305628" y="3220033"/>
              <a:ext cx="201455" cy="201456"/>
            </a:xfrm>
            <a:prstGeom prst="rect">
              <a:avLst/>
            </a:prstGeom>
            <a:solidFill>
              <a:srgbClr val="00BF7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" name="rc54"/>
            <p:cNvSpPr/>
            <p:nvPr/>
          </p:nvSpPr>
          <p:spPr>
            <a:xfrm>
              <a:off x="7305628" y="3439489"/>
              <a:ext cx="201455" cy="201456"/>
            </a:xfrm>
            <a:prstGeom prst="rect">
              <a:avLst/>
            </a:prstGeom>
            <a:solidFill>
              <a:srgbClr val="00B0F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" name="rc55"/>
            <p:cNvSpPr/>
            <p:nvPr/>
          </p:nvSpPr>
          <p:spPr>
            <a:xfrm>
              <a:off x="7305628" y="3658945"/>
              <a:ext cx="201455" cy="201456"/>
            </a:xfrm>
            <a:prstGeom prst="rect">
              <a:avLst/>
            </a:prstGeom>
            <a:solidFill>
              <a:srgbClr val="E76BF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" name="tx56"/>
            <p:cNvSpPr/>
            <p:nvPr/>
          </p:nvSpPr>
          <p:spPr>
            <a:xfrm>
              <a:off x="7585673" y="2841799"/>
              <a:ext cx="96194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Carboplatin (±20%)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7585673" y="3061255"/>
              <a:ext cx="96194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Carboplatin (±15%)</a:t>
              </a:r>
            </a:p>
          </p:txBody>
        </p:sp>
        <p:sp>
          <p:nvSpPr>
            <p:cNvPr id="58" name="tx58"/>
            <p:cNvSpPr/>
            <p:nvPr/>
          </p:nvSpPr>
          <p:spPr>
            <a:xfrm>
              <a:off x="7585673" y="3280711"/>
              <a:ext cx="42839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Cisplatin</a:t>
              </a:r>
            </a:p>
          </p:txBody>
        </p:sp>
        <p:sp>
          <p:nvSpPr>
            <p:cNvPr id="59" name="tx59"/>
            <p:cNvSpPr/>
            <p:nvPr/>
          </p:nvSpPr>
          <p:spPr>
            <a:xfrm>
              <a:off x="7585673" y="3500167"/>
              <a:ext cx="652241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Methotrexate</a:t>
              </a:r>
            </a:p>
          </p:txBody>
        </p:sp>
        <p:sp>
          <p:nvSpPr>
            <p:cNvPr id="60" name="tx60"/>
            <p:cNvSpPr/>
            <p:nvPr/>
          </p:nvSpPr>
          <p:spPr>
            <a:xfrm>
              <a:off x="7585673" y="3719623"/>
              <a:ext cx="515721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Melphalan</a:t>
              </a:r>
            </a:p>
          </p:txBody>
        </p:sp>
        <p:sp>
          <p:nvSpPr>
            <p:cNvPr id="61" name="tx61"/>
            <p:cNvSpPr/>
            <p:nvPr/>
          </p:nvSpPr>
          <p:spPr>
            <a:xfrm>
              <a:off x="879697" y="1166869"/>
              <a:ext cx="1545427" cy="1005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eGFRcr · CKD-EPI 2021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457200" y="1097280"/>
            <a:ext cx="8229600" cy="4700016"/>
            <a:chOff x="457200" y="1097280"/>
            <a:chExt cx="8229600" cy="4700016"/>
          </a:xfrm>
        </p:grpSpPr>
        <p:sp>
          <p:nvSpPr>
            <p:cNvPr id="3" name="rc3"/>
            <p:cNvSpPr/>
            <p:nvPr/>
          </p:nvSpPr>
          <p:spPr>
            <a:xfrm>
              <a:off x="457200" y="1097280"/>
              <a:ext cx="8229600" cy="47000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79697" y="4740989"/>
              <a:ext cx="6208163" cy="0"/>
            </a:xfrm>
            <a:custGeom>
              <a:avLst/>
              <a:pathLst>
                <a:path w="6208163" h="0">
                  <a:moveTo>
                    <a:pt x="0" y="0"/>
                  </a:moveTo>
                  <a:lnTo>
                    <a:pt x="6208163" y="0"/>
                  </a:lnTo>
                  <a:lnTo>
                    <a:pt x="620816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79697" y="4030875"/>
              <a:ext cx="6208163" cy="0"/>
            </a:xfrm>
            <a:custGeom>
              <a:avLst/>
              <a:pathLst>
                <a:path w="6208163" h="0">
                  <a:moveTo>
                    <a:pt x="0" y="0"/>
                  </a:moveTo>
                  <a:lnTo>
                    <a:pt x="6208163" y="0"/>
                  </a:lnTo>
                  <a:lnTo>
                    <a:pt x="620816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79697" y="3320761"/>
              <a:ext cx="6208163" cy="0"/>
            </a:xfrm>
            <a:custGeom>
              <a:avLst/>
              <a:pathLst>
                <a:path w="6208163" h="0">
                  <a:moveTo>
                    <a:pt x="0" y="0"/>
                  </a:moveTo>
                  <a:lnTo>
                    <a:pt x="6208163" y="0"/>
                  </a:lnTo>
                  <a:lnTo>
                    <a:pt x="620816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79697" y="2610648"/>
              <a:ext cx="6208163" cy="0"/>
            </a:xfrm>
            <a:custGeom>
              <a:avLst/>
              <a:pathLst>
                <a:path w="6208163" h="0">
                  <a:moveTo>
                    <a:pt x="0" y="0"/>
                  </a:moveTo>
                  <a:lnTo>
                    <a:pt x="6208163" y="0"/>
                  </a:lnTo>
                  <a:lnTo>
                    <a:pt x="620816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879697" y="1900534"/>
              <a:ext cx="6208163" cy="0"/>
            </a:xfrm>
            <a:custGeom>
              <a:avLst/>
              <a:pathLst>
                <a:path w="6208163" h="0">
                  <a:moveTo>
                    <a:pt x="0" y="0"/>
                  </a:moveTo>
                  <a:lnTo>
                    <a:pt x="6208163" y="0"/>
                  </a:lnTo>
                  <a:lnTo>
                    <a:pt x="620816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002906" y="1367948"/>
              <a:ext cx="0" cy="3905626"/>
            </a:xfrm>
            <a:custGeom>
              <a:avLst/>
              <a:pathLst>
                <a:path w="0" h="3905626">
                  <a:moveTo>
                    <a:pt x="0" y="39056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990154" y="1367948"/>
              <a:ext cx="0" cy="3905626"/>
            </a:xfrm>
            <a:custGeom>
              <a:avLst/>
              <a:pathLst>
                <a:path w="0" h="3905626">
                  <a:moveTo>
                    <a:pt x="0" y="39056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977403" y="1367948"/>
              <a:ext cx="0" cy="3905626"/>
            </a:xfrm>
            <a:custGeom>
              <a:avLst/>
              <a:pathLst>
                <a:path w="0" h="3905626">
                  <a:moveTo>
                    <a:pt x="0" y="39056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6964651" y="1367948"/>
              <a:ext cx="0" cy="3905626"/>
            </a:xfrm>
            <a:custGeom>
              <a:avLst/>
              <a:pathLst>
                <a:path w="0" h="3905626">
                  <a:moveTo>
                    <a:pt x="0" y="39056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79697" y="5096046"/>
              <a:ext cx="6208163" cy="0"/>
            </a:xfrm>
            <a:custGeom>
              <a:avLst/>
              <a:pathLst>
                <a:path w="6208163" h="0">
                  <a:moveTo>
                    <a:pt x="0" y="0"/>
                  </a:moveTo>
                  <a:lnTo>
                    <a:pt x="6208163" y="0"/>
                  </a:lnTo>
                  <a:lnTo>
                    <a:pt x="620816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79697" y="4385932"/>
              <a:ext cx="6208163" cy="0"/>
            </a:xfrm>
            <a:custGeom>
              <a:avLst/>
              <a:pathLst>
                <a:path w="6208163" h="0">
                  <a:moveTo>
                    <a:pt x="0" y="0"/>
                  </a:moveTo>
                  <a:lnTo>
                    <a:pt x="6208163" y="0"/>
                  </a:lnTo>
                  <a:lnTo>
                    <a:pt x="620816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79697" y="3675818"/>
              <a:ext cx="6208163" cy="0"/>
            </a:xfrm>
            <a:custGeom>
              <a:avLst/>
              <a:pathLst>
                <a:path w="6208163" h="0">
                  <a:moveTo>
                    <a:pt x="0" y="0"/>
                  </a:moveTo>
                  <a:lnTo>
                    <a:pt x="6208163" y="0"/>
                  </a:lnTo>
                  <a:lnTo>
                    <a:pt x="620816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79697" y="2965704"/>
              <a:ext cx="6208163" cy="0"/>
            </a:xfrm>
            <a:custGeom>
              <a:avLst/>
              <a:pathLst>
                <a:path w="6208163" h="0">
                  <a:moveTo>
                    <a:pt x="0" y="0"/>
                  </a:moveTo>
                  <a:lnTo>
                    <a:pt x="6208163" y="0"/>
                  </a:lnTo>
                  <a:lnTo>
                    <a:pt x="620816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79697" y="2255591"/>
              <a:ext cx="6208163" cy="0"/>
            </a:xfrm>
            <a:custGeom>
              <a:avLst/>
              <a:pathLst>
                <a:path w="6208163" h="0">
                  <a:moveTo>
                    <a:pt x="0" y="0"/>
                  </a:moveTo>
                  <a:lnTo>
                    <a:pt x="6208163" y="0"/>
                  </a:lnTo>
                  <a:lnTo>
                    <a:pt x="620816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79697" y="1545477"/>
              <a:ext cx="6208163" cy="0"/>
            </a:xfrm>
            <a:custGeom>
              <a:avLst/>
              <a:pathLst>
                <a:path w="6208163" h="0">
                  <a:moveTo>
                    <a:pt x="0" y="0"/>
                  </a:moveTo>
                  <a:lnTo>
                    <a:pt x="6208163" y="0"/>
                  </a:lnTo>
                  <a:lnTo>
                    <a:pt x="620816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1996530" y="1367948"/>
              <a:ext cx="0" cy="3905626"/>
            </a:xfrm>
            <a:custGeom>
              <a:avLst/>
              <a:pathLst>
                <a:path w="0" h="3905626">
                  <a:moveTo>
                    <a:pt x="0" y="39056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3983779" y="1367948"/>
              <a:ext cx="0" cy="3905626"/>
            </a:xfrm>
            <a:custGeom>
              <a:avLst/>
              <a:pathLst>
                <a:path w="0" h="3905626">
                  <a:moveTo>
                    <a:pt x="0" y="39056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5971027" y="1367948"/>
              <a:ext cx="0" cy="3905626"/>
            </a:xfrm>
            <a:custGeom>
              <a:avLst/>
              <a:pathLst>
                <a:path w="0" h="3905626">
                  <a:moveTo>
                    <a:pt x="0" y="39056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1161886" y="4880860"/>
              <a:ext cx="317959" cy="215186"/>
            </a:xfrm>
            <a:prstGeom prst="rect">
              <a:avLst/>
            </a:prstGeom>
            <a:solidFill>
              <a:srgbClr val="F8766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1499718" y="4837823"/>
              <a:ext cx="317959" cy="258223"/>
            </a:xfrm>
            <a:prstGeom prst="rect">
              <a:avLst/>
            </a:prstGeom>
            <a:solidFill>
              <a:srgbClr val="E76BF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1837550" y="4794785"/>
              <a:ext cx="317959" cy="301260"/>
            </a:xfrm>
            <a:prstGeom prst="rect">
              <a:avLst/>
            </a:prstGeom>
            <a:solidFill>
              <a:srgbClr val="00B0F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2175382" y="4708711"/>
              <a:ext cx="317959" cy="387334"/>
            </a:xfrm>
            <a:prstGeom prst="rect">
              <a:avLst/>
            </a:prstGeom>
            <a:solidFill>
              <a:srgbClr val="00BF7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2513215" y="4579599"/>
              <a:ext cx="317959" cy="516446"/>
            </a:xfrm>
            <a:prstGeom prst="rect">
              <a:avLst/>
            </a:prstGeom>
            <a:solidFill>
              <a:srgbClr val="A3A5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3149134" y="4485438"/>
              <a:ext cx="317959" cy="610607"/>
            </a:xfrm>
            <a:prstGeom prst="rect">
              <a:avLst/>
            </a:prstGeom>
            <a:solidFill>
              <a:srgbClr val="F8766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3486966" y="4259288"/>
              <a:ext cx="317959" cy="836758"/>
            </a:xfrm>
            <a:prstGeom prst="rect">
              <a:avLst/>
            </a:prstGeom>
            <a:solidFill>
              <a:srgbClr val="E76BF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3824799" y="4214057"/>
              <a:ext cx="317959" cy="881988"/>
            </a:xfrm>
            <a:prstGeom prst="rect">
              <a:avLst/>
            </a:prstGeom>
            <a:solidFill>
              <a:srgbClr val="A3A5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4162631" y="4010522"/>
              <a:ext cx="317959" cy="1085524"/>
            </a:xfrm>
            <a:prstGeom prst="rect">
              <a:avLst/>
            </a:prstGeom>
            <a:solidFill>
              <a:srgbClr val="00B0F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4500463" y="3942676"/>
              <a:ext cx="317959" cy="1153369"/>
            </a:xfrm>
            <a:prstGeom prst="rect">
              <a:avLst/>
            </a:prstGeom>
            <a:solidFill>
              <a:srgbClr val="00BF7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5136383" y="3902049"/>
              <a:ext cx="317959" cy="1193996"/>
            </a:xfrm>
            <a:prstGeom prst="rect">
              <a:avLst/>
            </a:prstGeom>
            <a:solidFill>
              <a:srgbClr val="E76BF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5474215" y="3839207"/>
              <a:ext cx="317959" cy="1256838"/>
            </a:xfrm>
            <a:prstGeom prst="rect">
              <a:avLst/>
            </a:prstGeom>
            <a:solidFill>
              <a:srgbClr val="F8766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5812047" y="3336472"/>
              <a:ext cx="317959" cy="1759574"/>
            </a:xfrm>
            <a:prstGeom prst="rect">
              <a:avLst/>
            </a:prstGeom>
            <a:solidFill>
              <a:srgbClr val="00B0F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" name="rc35"/>
            <p:cNvSpPr/>
            <p:nvPr/>
          </p:nvSpPr>
          <p:spPr>
            <a:xfrm>
              <a:off x="6149879" y="3273630"/>
              <a:ext cx="317959" cy="1822416"/>
            </a:xfrm>
            <a:prstGeom prst="rect">
              <a:avLst/>
            </a:prstGeom>
            <a:solidFill>
              <a:srgbClr val="00BF7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" name="rc36"/>
            <p:cNvSpPr/>
            <p:nvPr/>
          </p:nvSpPr>
          <p:spPr>
            <a:xfrm>
              <a:off x="6487711" y="3147946"/>
              <a:ext cx="317959" cy="1948099"/>
            </a:xfrm>
            <a:prstGeom prst="rect">
              <a:avLst/>
            </a:prstGeom>
            <a:solidFill>
              <a:srgbClr val="A3A5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" name="tx37"/>
            <p:cNvSpPr/>
            <p:nvPr/>
          </p:nvSpPr>
          <p:spPr>
            <a:xfrm>
              <a:off x="754887" y="505599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692708" y="4345881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692708" y="3635768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92708" y="2925654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692708" y="2215540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692708" y="1505426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1785441" y="5336204"/>
              <a:ext cx="4221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Non-frail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1793076" y="5456905"/>
              <a:ext cx="40690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(N=165)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3788234" y="5336204"/>
              <a:ext cx="39108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Pre-frail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3780325" y="5456905"/>
              <a:ext cx="40690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(N=314)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5862442" y="5336204"/>
              <a:ext cx="217170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Frail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5767573" y="5456905"/>
              <a:ext cx="40690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(N=113)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3459873" y="5596581"/>
              <a:ext cx="1047810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Fried frailty class</a:t>
              </a:r>
            </a:p>
          </p:txBody>
        </p:sp>
        <p:sp>
          <p:nvSpPr>
            <p:cNvPr id="50" name="tx50"/>
            <p:cNvSpPr/>
            <p:nvPr/>
          </p:nvSpPr>
          <p:spPr>
            <a:xfrm rot="-5400000">
              <a:off x="169121" y="3270652"/>
              <a:ext cx="815553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% overdosed</a:t>
              </a:r>
            </a:p>
          </p:txBody>
        </p:sp>
        <p:sp>
          <p:nvSpPr>
            <p:cNvPr id="51" name="rc51"/>
            <p:cNvSpPr/>
            <p:nvPr/>
          </p:nvSpPr>
          <p:spPr>
            <a:xfrm>
              <a:off x="7305628" y="2781121"/>
              <a:ext cx="201455" cy="201456"/>
            </a:xfrm>
            <a:prstGeom prst="rect">
              <a:avLst/>
            </a:prstGeom>
            <a:solidFill>
              <a:srgbClr val="F8766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" name="rc52"/>
            <p:cNvSpPr/>
            <p:nvPr/>
          </p:nvSpPr>
          <p:spPr>
            <a:xfrm>
              <a:off x="7305628" y="3000577"/>
              <a:ext cx="201455" cy="201456"/>
            </a:xfrm>
            <a:prstGeom prst="rect">
              <a:avLst/>
            </a:prstGeom>
            <a:solidFill>
              <a:srgbClr val="A3A5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" name="rc53"/>
            <p:cNvSpPr/>
            <p:nvPr/>
          </p:nvSpPr>
          <p:spPr>
            <a:xfrm>
              <a:off x="7305628" y="3220033"/>
              <a:ext cx="201455" cy="201456"/>
            </a:xfrm>
            <a:prstGeom prst="rect">
              <a:avLst/>
            </a:prstGeom>
            <a:solidFill>
              <a:srgbClr val="00BF7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" name="rc54"/>
            <p:cNvSpPr/>
            <p:nvPr/>
          </p:nvSpPr>
          <p:spPr>
            <a:xfrm>
              <a:off x="7305628" y="3439489"/>
              <a:ext cx="201455" cy="201456"/>
            </a:xfrm>
            <a:prstGeom prst="rect">
              <a:avLst/>
            </a:prstGeom>
            <a:solidFill>
              <a:srgbClr val="00B0F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" name="rc55"/>
            <p:cNvSpPr/>
            <p:nvPr/>
          </p:nvSpPr>
          <p:spPr>
            <a:xfrm>
              <a:off x="7305628" y="3658945"/>
              <a:ext cx="201455" cy="201456"/>
            </a:xfrm>
            <a:prstGeom prst="rect">
              <a:avLst/>
            </a:prstGeom>
            <a:solidFill>
              <a:srgbClr val="E76BF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" name="tx56"/>
            <p:cNvSpPr/>
            <p:nvPr/>
          </p:nvSpPr>
          <p:spPr>
            <a:xfrm>
              <a:off x="7585673" y="2841799"/>
              <a:ext cx="96194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Carboplatin (±20%)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7585673" y="3061255"/>
              <a:ext cx="96194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Carboplatin (±15%)</a:t>
              </a:r>
            </a:p>
          </p:txBody>
        </p:sp>
        <p:sp>
          <p:nvSpPr>
            <p:cNvPr id="58" name="tx58"/>
            <p:cNvSpPr/>
            <p:nvPr/>
          </p:nvSpPr>
          <p:spPr>
            <a:xfrm>
              <a:off x="7585673" y="3280711"/>
              <a:ext cx="42839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Cisplatin</a:t>
              </a:r>
            </a:p>
          </p:txBody>
        </p:sp>
        <p:sp>
          <p:nvSpPr>
            <p:cNvPr id="59" name="tx59"/>
            <p:cNvSpPr/>
            <p:nvPr/>
          </p:nvSpPr>
          <p:spPr>
            <a:xfrm>
              <a:off x="7585673" y="3500167"/>
              <a:ext cx="652241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Methotrexate</a:t>
              </a:r>
            </a:p>
          </p:txBody>
        </p:sp>
        <p:sp>
          <p:nvSpPr>
            <p:cNvPr id="60" name="tx60"/>
            <p:cNvSpPr/>
            <p:nvPr/>
          </p:nvSpPr>
          <p:spPr>
            <a:xfrm>
              <a:off x="7585673" y="3719623"/>
              <a:ext cx="515721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Melphalan</a:t>
              </a:r>
            </a:p>
          </p:txBody>
        </p:sp>
        <p:sp>
          <p:nvSpPr>
            <p:cNvPr id="61" name="tx61"/>
            <p:cNvSpPr/>
            <p:nvPr/>
          </p:nvSpPr>
          <p:spPr>
            <a:xfrm>
              <a:off x="879697" y="1166869"/>
              <a:ext cx="1351300" cy="1005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eGFRcr · EKFC 2021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457200" y="1097280"/>
            <a:ext cx="8229600" cy="4700016"/>
            <a:chOff x="457200" y="1097280"/>
            <a:chExt cx="8229600" cy="4700016"/>
          </a:xfrm>
        </p:grpSpPr>
        <p:sp>
          <p:nvSpPr>
            <p:cNvPr id="3" name="rc3"/>
            <p:cNvSpPr/>
            <p:nvPr/>
          </p:nvSpPr>
          <p:spPr>
            <a:xfrm>
              <a:off x="457200" y="1097280"/>
              <a:ext cx="8229600" cy="47000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79697" y="4740989"/>
              <a:ext cx="6208163" cy="0"/>
            </a:xfrm>
            <a:custGeom>
              <a:avLst/>
              <a:pathLst>
                <a:path w="6208163" h="0">
                  <a:moveTo>
                    <a:pt x="0" y="0"/>
                  </a:moveTo>
                  <a:lnTo>
                    <a:pt x="6208163" y="0"/>
                  </a:lnTo>
                  <a:lnTo>
                    <a:pt x="620816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79697" y="4030875"/>
              <a:ext cx="6208163" cy="0"/>
            </a:xfrm>
            <a:custGeom>
              <a:avLst/>
              <a:pathLst>
                <a:path w="6208163" h="0">
                  <a:moveTo>
                    <a:pt x="0" y="0"/>
                  </a:moveTo>
                  <a:lnTo>
                    <a:pt x="6208163" y="0"/>
                  </a:lnTo>
                  <a:lnTo>
                    <a:pt x="620816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79697" y="3320761"/>
              <a:ext cx="6208163" cy="0"/>
            </a:xfrm>
            <a:custGeom>
              <a:avLst/>
              <a:pathLst>
                <a:path w="6208163" h="0">
                  <a:moveTo>
                    <a:pt x="0" y="0"/>
                  </a:moveTo>
                  <a:lnTo>
                    <a:pt x="6208163" y="0"/>
                  </a:lnTo>
                  <a:lnTo>
                    <a:pt x="620816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79697" y="2610648"/>
              <a:ext cx="6208163" cy="0"/>
            </a:xfrm>
            <a:custGeom>
              <a:avLst/>
              <a:pathLst>
                <a:path w="6208163" h="0">
                  <a:moveTo>
                    <a:pt x="0" y="0"/>
                  </a:moveTo>
                  <a:lnTo>
                    <a:pt x="6208163" y="0"/>
                  </a:lnTo>
                  <a:lnTo>
                    <a:pt x="620816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879697" y="1900534"/>
              <a:ext cx="6208163" cy="0"/>
            </a:xfrm>
            <a:custGeom>
              <a:avLst/>
              <a:pathLst>
                <a:path w="6208163" h="0">
                  <a:moveTo>
                    <a:pt x="0" y="0"/>
                  </a:moveTo>
                  <a:lnTo>
                    <a:pt x="6208163" y="0"/>
                  </a:lnTo>
                  <a:lnTo>
                    <a:pt x="620816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002906" y="1367948"/>
              <a:ext cx="0" cy="3905626"/>
            </a:xfrm>
            <a:custGeom>
              <a:avLst/>
              <a:pathLst>
                <a:path w="0" h="3905626">
                  <a:moveTo>
                    <a:pt x="0" y="39056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990154" y="1367948"/>
              <a:ext cx="0" cy="3905626"/>
            </a:xfrm>
            <a:custGeom>
              <a:avLst/>
              <a:pathLst>
                <a:path w="0" h="3905626">
                  <a:moveTo>
                    <a:pt x="0" y="39056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977403" y="1367948"/>
              <a:ext cx="0" cy="3905626"/>
            </a:xfrm>
            <a:custGeom>
              <a:avLst/>
              <a:pathLst>
                <a:path w="0" h="3905626">
                  <a:moveTo>
                    <a:pt x="0" y="39056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6964651" y="1367948"/>
              <a:ext cx="0" cy="3905626"/>
            </a:xfrm>
            <a:custGeom>
              <a:avLst/>
              <a:pathLst>
                <a:path w="0" h="3905626">
                  <a:moveTo>
                    <a:pt x="0" y="39056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79697" y="5096046"/>
              <a:ext cx="6208163" cy="0"/>
            </a:xfrm>
            <a:custGeom>
              <a:avLst/>
              <a:pathLst>
                <a:path w="6208163" h="0">
                  <a:moveTo>
                    <a:pt x="0" y="0"/>
                  </a:moveTo>
                  <a:lnTo>
                    <a:pt x="6208163" y="0"/>
                  </a:lnTo>
                  <a:lnTo>
                    <a:pt x="620816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79697" y="4385932"/>
              <a:ext cx="6208163" cy="0"/>
            </a:xfrm>
            <a:custGeom>
              <a:avLst/>
              <a:pathLst>
                <a:path w="6208163" h="0">
                  <a:moveTo>
                    <a:pt x="0" y="0"/>
                  </a:moveTo>
                  <a:lnTo>
                    <a:pt x="6208163" y="0"/>
                  </a:lnTo>
                  <a:lnTo>
                    <a:pt x="620816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79697" y="3675818"/>
              <a:ext cx="6208163" cy="0"/>
            </a:xfrm>
            <a:custGeom>
              <a:avLst/>
              <a:pathLst>
                <a:path w="6208163" h="0">
                  <a:moveTo>
                    <a:pt x="0" y="0"/>
                  </a:moveTo>
                  <a:lnTo>
                    <a:pt x="6208163" y="0"/>
                  </a:lnTo>
                  <a:lnTo>
                    <a:pt x="620816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79697" y="2965704"/>
              <a:ext cx="6208163" cy="0"/>
            </a:xfrm>
            <a:custGeom>
              <a:avLst/>
              <a:pathLst>
                <a:path w="6208163" h="0">
                  <a:moveTo>
                    <a:pt x="0" y="0"/>
                  </a:moveTo>
                  <a:lnTo>
                    <a:pt x="6208163" y="0"/>
                  </a:lnTo>
                  <a:lnTo>
                    <a:pt x="620816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79697" y="2255591"/>
              <a:ext cx="6208163" cy="0"/>
            </a:xfrm>
            <a:custGeom>
              <a:avLst/>
              <a:pathLst>
                <a:path w="6208163" h="0">
                  <a:moveTo>
                    <a:pt x="0" y="0"/>
                  </a:moveTo>
                  <a:lnTo>
                    <a:pt x="6208163" y="0"/>
                  </a:lnTo>
                  <a:lnTo>
                    <a:pt x="620816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79697" y="1545477"/>
              <a:ext cx="6208163" cy="0"/>
            </a:xfrm>
            <a:custGeom>
              <a:avLst/>
              <a:pathLst>
                <a:path w="6208163" h="0">
                  <a:moveTo>
                    <a:pt x="0" y="0"/>
                  </a:moveTo>
                  <a:lnTo>
                    <a:pt x="6208163" y="0"/>
                  </a:lnTo>
                  <a:lnTo>
                    <a:pt x="620816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1996530" y="1367948"/>
              <a:ext cx="0" cy="3905626"/>
            </a:xfrm>
            <a:custGeom>
              <a:avLst/>
              <a:pathLst>
                <a:path w="0" h="3905626">
                  <a:moveTo>
                    <a:pt x="0" y="39056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3983779" y="1367948"/>
              <a:ext cx="0" cy="3905626"/>
            </a:xfrm>
            <a:custGeom>
              <a:avLst/>
              <a:pathLst>
                <a:path w="0" h="3905626">
                  <a:moveTo>
                    <a:pt x="0" y="39056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5971027" y="1367948"/>
              <a:ext cx="0" cy="3905626"/>
            </a:xfrm>
            <a:custGeom>
              <a:avLst/>
              <a:pathLst>
                <a:path w="0" h="3905626">
                  <a:moveTo>
                    <a:pt x="0" y="39056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1161886" y="4880860"/>
              <a:ext cx="317959" cy="215186"/>
            </a:xfrm>
            <a:prstGeom prst="rect">
              <a:avLst/>
            </a:prstGeom>
            <a:solidFill>
              <a:srgbClr val="00BF7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1499718" y="4880860"/>
              <a:ext cx="317959" cy="215186"/>
            </a:xfrm>
            <a:prstGeom prst="rect">
              <a:avLst/>
            </a:prstGeom>
            <a:solidFill>
              <a:srgbClr val="E76BF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1837550" y="4837823"/>
              <a:ext cx="317959" cy="258223"/>
            </a:xfrm>
            <a:prstGeom prst="rect">
              <a:avLst/>
            </a:prstGeom>
            <a:solidFill>
              <a:srgbClr val="F8766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2175382" y="4837823"/>
              <a:ext cx="317959" cy="258223"/>
            </a:xfrm>
            <a:prstGeom prst="rect">
              <a:avLst/>
            </a:prstGeom>
            <a:solidFill>
              <a:srgbClr val="00B0F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2513215" y="4579599"/>
              <a:ext cx="317959" cy="516446"/>
            </a:xfrm>
            <a:prstGeom prst="rect">
              <a:avLst/>
            </a:prstGeom>
            <a:solidFill>
              <a:srgbClr val="A3A5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3149134" y="4869895"/>
              <a:ext cx="317959" cy="226150"/>
            </a:xfrm>
            <a:prstGeom prst="rect">
              <a:avLst/>
            </a:prstGeom>
            <a:solidFill>
              <a:srgbClr val="E76BF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3486966" y="4802050"/>
              <a:ext cx="317959" cy="293996"/>
            </a:xfrm>
            <a:prstGeom prst="rect">
              <a:avLst/>
            </a:prstGeom>
            <a:solidFill>
              <a:srgbClr val="F8766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3824799" y="4779435"/>
              <a:ext cx="317959" cy="316611"/>
            </a:xfrm>
            <a:prstGeom prst="rect">
              <a:avLst/>
            </a:prstGeom>
            <a:solidFill>
              <a:srgbClr val="00B0F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4162631" y="4734204"/>
              <a:ext cx="317959" cy="361841"/>
            </a:xfrm>
            <a:prstGeom prst="rect">
              <a:avLst/>
            </a:prstGeom>
            <a:solidFill>
              <a:srgbClr val="00BF7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4500463" y="4575899"/>
              <a:ext cx="317959" cy="520147"/>
            </a:xfrm>
            <a:prstGeom prst="rect">
              <a:avLst/>
            </a:prstGeom>
            <a:solidFill>
              <a:srgbClr val="A3A5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5136383" y="4970362"/>
              <a:ext cx="317959" cy="125683"/>
            </a:xfrm>
            <a:prstGeom prst="rect">
              <a:avLst/>
            </a:prstGeom>
            <a:solidFill>
              <a:srgbClr val="F8766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5474215" y="4907520"/>
              <a:ext cx="317959" cy="188525"/>
            </a:xfrm>
            <a:prstGeom prst="rect">
              <a:avLst/>
            </a:prstGeom>
            <a:solidFill>
              <a:srgbClr val="A3A5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5812047" y="4844678"/>
              <a:ext cx="317959" cy="251367"/>
            </a:xfrm>
            <a:prstGeom prst="rect">
              <a:avLst/>
            </a:prstGeom>
            <a:solidFill>
              <a:srgbClr val="E76BF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" name="rc35"/>
            <p:cNvSpPr/>
            <p:nvPr/>
          </p:nvSpPr>
          <p:spPr>
            <a:xfrm>
              <a:off x="6149879" y="4656152"/>
              <a:ext cx="317959" cy="439893"/>
            </a:xfrm>
            <a:prstGeom prst="rect">
              <a:avLst/>
            </a:prstGeom>
            <a:solidFill>
              <a:srgbClr val="00B0F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" name="rc36"/>
            <p:cNvSpPr/>
            <p:nvPr/>
          </p:nvSpPr>
          <p:spPr>
            <a:xfrm>
              <a:off x="6487711" y="4530469"/>
              <a:ext cx="317959" cy="565577"/>
            </a:xfrm>
            <a:prstGeom prst="rect">
              <a:avLst/>
            </a:prstGeom>
            <a:solidFill>
              <a:srgbClr val="00BF7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" name="tx37"/>
            <p:cNvSpPr/>
            <p:nvPr/>
          </p:nvSpPr>
          <p:spPr>
            <a:xfrm>
              <a:off x="754887" y="505599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692708" y="4345881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692708" y="3635768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92708" y="2925654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692708" y="2215540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692708" y="1505426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1785441" y="5336204"/>
              <a:ext cx="4221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Non-frail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1793076" y="5456905"/>
              <a:ext cx="40690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(N=165)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3788234" y="5336204"/>
              <a:ext cx="39108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Pre-frail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3780325" y="5456905"/>
              <a:ext cx="40690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(N=314)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5862442" y="5336204"/>
              <a:ext cx="217170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Frail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5767573" y="5456905"/>
              <a:ext cx="40690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(N=113)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3459873" y="5596581"/>
              <a:ext cx="1047810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Fried frailty class</a:t>
              </a:r>
            </a:p>
          </p:txBody>
        </p:sp>
        <p:sp>
          <p:nvSpPr>
            <p:cNvPr id="50" name="tx50"/>
            <p:cNvSpPr/>
            <p:nvPr/>
          </p:nvSpPr>
          <p:spPr>
            <a:xfrm rot="-5400000">
              <a:off x="169121" y="3270652"/>
              <a:ext cx="815553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% overdosed</a:t>
              </a:r>
            </a:p>
          </p:txBody>
        </p:sp>
        <p:sp>
          <p:nvSpPr>
            <p:cNvPr id="51" name="rc51"/>
            <p:cNvSpPr/>
            <p:nvPr/>
          </p:nvSpPr>
          <p:spPr>
            <a:xfrm>
              <a:off x="7305628" y="2781121"/>
              <a:ext cx="201455" cy="201456"/>
            </a:xfrm>
            <a:prstGeom prst="rect">
              <a:avLst/>
            </a:prstGeom>
            <a:solidFill>
              <a:srgbClr val="F8766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" name="rc52"/>
            <p:cNvSpPr/>
            <p:nvPr/>
          </p:nvSpPr>
          <p:spPr>
            <a:xfrm>
              <a:off x="7305628" y="3000577"/>
              <a:ext cx="201455" cy="201456"/>
            </a:xfrm>
            <a:prstGeom prst="rect">
              <a:avLst/>
            </a:prstGeom>
            <a:solidFill>
              <a:srgbClr val="A3A5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" name="rc53"/>
            <p:cNvSpPr/>
            <p:nvPr/>
          </p:nvSpPr>
          <p:spPr>
            <a:xfrm>
              <a:off x="7305628" y="3220033"/>
              <a:ext cx="201455" cy="201456"/>
            </a:xfrm>
            <a:prstGeom prst="rect">
              <a:avLst/>
            </a:prstGeom>
            <a:solidFill>
              <a:srgbClr val="00BF7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" name="rc54"/>
            <p:cNvSpPr/>
            <p:nvPr/>
          </p:nvSpPr>
          <p:spPr>
            <a:xfrm>
              <a:off x="7305628" y="3439489"/>
              <a:ext cx="201455" cy="201456"/>
            </a:xfrm>
            <a:prstGeom prst="rect">
              <a:avLst/>
            </a:prstGeom>
            <a:solidFill>
              <a:srgbClr val="00B0F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" name="rc55"/>
            <p:cNvSpPr/>
            <p:nvPr/>
          </p:nvSpPr>
          <p:spPr>
            <a:xfrm>
              <a:off x="7305628" y="3658945"/>
              <a:ext cx="201455" cy="201456"/>
            </a:xfrm>
            <a:prstGeom prst="rect">
              <a:avLst/>
            </a:prstGeom>
            <a:solidFill>
              <a:srgbClr val="E76BF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" name="tx56"/>
            <p:cNvSpPr/>
            <p:nvPr/>
          </p:nvSpPr>
          <p:spPr>
            <a:xfrm>
              <a:off x="7585673" y="2841799"/>
              <a:ext cx="96194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Carboplatin (±20%)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7585673" y="3061255"/>
              <a:ext cx="96194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Carboplatin (±15%)</a:t>
              </a:r>
            </a:p>
          </p:txBody>
        </p:sp>
        <p:sp>
          <p:nvSpPr>
            <p:cNvPr id="58" name="tx58"/>
            <p:cNvSpPr/>
            <p:nvPr/>
          </p:nvSpPr>
          <p:spPr>
            <a:xfrm>
              <a:off x="7585673" y="3280711"/>
              <a:ext cx="42839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Cisplatin</a:t>
              </a:r>
            </a:p>
          </p:txBody>
        </p:sp>
        <p:sp>
          <p:nvSpPr>
            <p:cNvPr id="59" name="tx59"/>
            <p:cNvSpPr/>
            <p:nvPr/>
          </p:nvSpPr>
          <p:spPr>
            <a:xfrm>
              <a:off x="7585673" y="3500167"/>
              <a:ext cx="652241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Methotrexate</a:t>
              </a:r>
            </a:p>
          </p:txBody>
        </p:sp>
        <p:sp>
          <p:nvSpPr>
            <p:cNvPr id="60" name="tx60"/>
            <p:cNvSpPr/>
            <p:nvPr/>
          </p:nvSpPr>
          <p:spPr>
            <a:xfrm>
              <a:off x="7585673" y="3719623"/>
              <a:ext cx="515721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Melphalan</a:t>
              </a:r>
            </a:p>
          </p:txBody>
        </p:sp>
        <p:sp>
          <p:nvSpPr>
            <p:cNvPr id="61" name="tx61"/>
            <p:cNvSpPr/>
            <p:nvPr/>
          </p:nvSpPr>
          <p:spPr>
            <a:xfrm>
              <a:off x="879697" y="1166869"/>
              <a:ext cx="1646468" cy="1005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eGFRcys · CKD-EPI 2012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457200" y="1097280"/>
            <a:ext cx="8229600" cy="4700016"/>
            <a:chOff x="457200" y="1097280"/>
            <a:chExt cx="8229600" cy="4700016"/>
          </a:xfrm>
        </p:grpSpPr>
        <p:sp>
          <p:nvSpPr>
            <p:cNvPr id="3" name="rc3"/>
            <p:cNvSpPr/>
            <p:nvPr/>
          </p:nvSpPr>
          <p:spPr>
            <a:xfrm>
              <a:off x="457200" y="1097280"/>
              <a:ext cx="8229600" cy="47000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79697" y="4740989"/>
              <a:ext cx="6208163" cy="0"/>
            </a:xfrm>
            <a:custGeom>
              <a:avLst/>
              <a:pathLst>
                <a:path w="6208163" h="0">
                  <a:moveTo>
                    <a:pt x="0" y="0"/>
                  </a:moveTo>
                  <a:lnTo>
                    <a:pt x="6208163" y="0"/>
                  </a:lnTo>
                  <a:lnTo>
                    <a:pt x="620816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79697" y="4030875"/>
              <a:ext cx="6208163" cy="0"/>
            </a:xfrm>
            <a:custGeom>
              <a:avLst/>
              <a:pathLst>
                <a:path w="6208163" h="0">
                  <a:moveTo>
                    <a:pt x="0" y="0"/>
                  </a:moveTo>
                  <a:lnTo>
                    <a:pt x="6208163" y="0"/>
                  </a:lnTo>
                  <a:lnTo>
                    <a:pt x="620816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79697" y="3320761"/>
              <a:ext cx="6208163" cy="0"/>
            </a:xfrm>
            <a:custGeom>
              <a:avLst/>
              <a:pathLst>
                <a:path w="6208163" h="0">
                  <a:moveTo>
                    <a:pt x="0" y="0"/>
                  </a:moveTo>
                  <a:lnTo>
                    <a:pt x="6208163" y="0"/>
                  </a:lnTo>
                  <a:lnTo>
                    <a:pt x="620816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79697" y="2610648"/>
              <a:ext cx="6208163" cy="0"/>
            </a:xfrm>
            <a:custGeom>
              <a:avLst/>
              <a:pathLst>
                <a:path w="6208163" h="0">
                  <a:moveTo>
                    <a:pt x="0" y="0"/>
                  </a:moveTo>
                  <a:lnTo>
                    <a:pt x="6208163" y="0"/>
                  </a:lnTo>
                  <a:lnTo>
                    <a:pt x="620816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879697" y="1900534"/>
              <a:ext cx="6208163" cy="0"/>
            </a:xfrm>
            <a:custGeom>
              <a:avLst/>
              <a:pathLst>
                <a:path w="6208163" h="0">
                  <a:moveTo>
                    <a:pt x="0" y="0"/>
                  </a:moveTo>
                  <a:lnTo>
                    <a:pt x="6208163" y="0"/>
                  </a:lnTo>
                  <a:lnTo>
                    <a:pt x="620816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002906" y="1367948"/>
              <a:ext cx="0" cy="3905626"/>
            </a:xfrm>
            <a:custGeom>
              <a:avLst/>
              <a:pathLst>
                <a:path w="0" h="3905626">
                  <a:moveTo>
                    <a:pt x="0" y="39056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990154" y="1367948"/>
              <a:ext cx="0" cy="3905626"/>
            </a:xfrm>
            <a:custGeom>
              <a:avLst/>
              <a:pathLst>
                <a:path w="0" h="3905626">
                  <a:moveTo>
                    <a:pt x="0" y="39056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977403" y="1367948"/>
              <a:ext cx="0" cy="3905626"/>
            </a:xfrm>
            <a:custGeom>
              <a:avLst/>
              <a:pathLst>
                <a:path w="0" h="3905626">
                  <a:moveTo>
                    <a:pt x="0" y="39056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6964651" y="1367948"/>
              <a:ext cx="0" cy="3905626"/>
            </a:xfrm>
            <a:custGeom>
              <a:avLst/>
              <a:pathLst>
                <a:path w="0" h="3905626">
                  <a:moveTo>
                    <a:pt x="0" y="39056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79697" y="5096046"/>
              <a:ext cx="6208163" cy="0"/>
            </a:xfrm>
            <a:custGeom>
              <a:avLst/>
              <a:pathLst>
                <a:path w="6208163" h="0">
                  <a:moveTo>
                    <a:pt x="0" y="0"/>
                  </a:moveTo>
                  <a:lnTo>
                    <a:pt x="6208163" y="0"/>
                  </a:lnTo>
                  <a:lnTo>
                    <a:pt x="620816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79697" y="4385932"/>
              <a:ext cx="6208163" cy="0"/>
            </a:xfrm>
            <a:custGeom>
              <a:avLst/>
              <a:pathLst>
                <a:path w="6208163" h="0">
                  <a:moveTo>
                    <a:pt x="0" y="0"/>
                  </a:moveTo>
                  <a:lnTo>
                    <a:pt x="6208163" y="0"/>
                  </a:lnTo>
                  <a:lnTo>
                    <a:pt x="620816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79697" y="3675818"/>
              <a:ext cx="6208163" cy="0"/>
            </a:xfrm>
            <a:custGeom>
              <a:avLst/>
              <a:pathLst>
                <a:path w="6208163" h="0">
                  <a:moveTo>
                    <a:pt x="0" y="0"/>
                  </a:moveTo>
                  <a:lnTo>
                    <a:pt x="6208163" y="0"/>
                  </a:lnTo>
                  <a:lnTo>
                    <a:pt x="620816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79697" y="2965704"/>
              <a:ext cx="6208163" cy="0"/>
            </a:xfrm>
            <a:custGeom>
              <a:avLst/>
              <a:pathLst>
                <a:path w="6208163" h="0">
                  <a:moveTo>
                    <a:pt x="0" y="0"/>
                  </a:moveTo>
                  <a:lnTo>
                    <a:pt x="6208163" y="0"/>
                  </a:lnTo>
                  <a:lnTo>
                    <a:pt x="620816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79697" y="2255591"/>
              <a:ext cx="6208163" cy="0"/>
            </a:xfrm>
            <a:custGeom>
              <a:avLst/>
              <a:pathLst>
                <a:path w="6208163" h="0">
                  <a:moveTo>
                    <a:pt x="0" y="0"/>
                  </a:moveTo>
                  <a:lnTo>
                    <a:pt x="6208163" y="0"/>
                  </a:lnTo>
                  <a:lnTo>
                    <a:pt x="620816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79697" y="1545477"/>
              <a:ext cx="6208163" cy="0"/>
            </a:xfrm>
            <a:custGeom>
              <a:avLst/>
              <a:pathLst>
                <a:path w="6208163" h="0">
                  <a:moveTo>
                    <a:pt x="0" y="0"/>
                  </a:moveTo>
                  <a:lnTo>
                    <a:pt x="6208163" y="0"/>
                  </a:lnTo>
                  <a:lnTo>
                    <a:pt x="620816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1996530" y="1367948"/>
              <a:ext cx="0" cy="3905626"/>
            </a:xfrm>
            <a:custGeom>
              <a:avLst/>
              <a:pathLst>
                <a:path w="0" h="3905626">
                  <a:moveTo>
                    <a:pt x="0" y="39056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3983779" y="1367948"/>
              <a:ext cx="0" cy="3905626"/>
            </a:xfrm>
            <a:custGeom>
              <a:avLst/>
              <a:pathLst>
                <a:path w="0" h="3905626">
                  <a:moveTo>
                    <a:pt x="0" y="39056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5971027" y="1367948"/>
              <a:ext cx="0" cy="3905626"/>
            </a:xfrm>
            <a:custGeom>
              <a:avLst/>
              <a:pathLst>
                <a:path w="0" h="3905626">
                  <a:moveTo>
                    <a:pt x="0" y="39056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1161886" y="4923897"/>
              <a:ext cx="317959" cy="172148"/>
            </a:xfrm>
            <a:prstGeom prst="rect">
              <a:avLst/>
            </a:prstGeom>
            <a:solidFill>
              <a:srgbClr val="F8766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1499718" y="4880860"/>
              <a:ext cx="317959" cy="215186"/>
            </a:xfrm>
            <a:prstGeom prst="rect">
              <a:avLst/>
            </a:prstGeom>
            <a:solidFill>
              <a:srgbClr val="E76BF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1837550" y="4837823"/>
              <a:ext cx="317959" cy="258223"/>
            </a:xfrm>
            <a:prstGeom prst="rect">
              <a:avLst/>
            </a:prstGeom>
            <a:solidFill>
              <a:srgbClr val="00BF7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2175382" y="4837823"/>
              <a:ext cx="317959" cy="258223"/>
            </a:xfrm>
            <a:prstGeom prst="rect">
              <a:avLst/>
            </a:prstGeom>
            <a:solidFill>
              <a:srgbClr val="00B0F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2513215" y="4794785"/>
              <a:ext cx="317959" cy="301260"/>
            </a:xfrm>
            <a:prstGeom prst="rect">
              <a:avLst/>
            </a:prstGeom>
            <a:solidFill>
              <a:srgbClr val="A3A5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3149134" y="4937740"/>
              <a:ext cx="317959" cy="158305"/>
            </a:xfrm>
            <a:prstGeom prst="rect">
              <a:avLst/>
            </a:prstGeom>
            <a:solidFill>
              <a:srgbClr val="F8766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3486966" y="4756820"/>
              <a:ext cx="317959" cy="339226"/>
            </a:xfrm>
            <a:prstGeom prst="rect">
              <a:avLst/>
            </a:prstGeom>
            <a:solidFill>
              <a:srgbClr val="A3A5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3824799" y="4688974"/>
              <a:ext cx="317959" cy="407071"/>
            </a:xfrm>
            <a:prstGeom prst="rect">
              <a:avLst/>
            </a:prstGeom>
            <a:solidFill>
              <a:srgbClr val="E76BF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4162631" y="4598514"/>
              <a:ext cx="317959" cy="497531"/>
            </a:xfrm>
            <a:prstGeom prst="rect">
              <a:avLst/>
            </a:prstGeom>
            <a:solidFill>
              <a:srgbClr val="00BF7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4500463" y="4575899"/>
              <a:ext cx="317959" cy="520147"/>
            </a:xfrm>
            <a:prstGeom prst="rect">
              <a:avLst/>
            </a:prstGeom>
            <a:solidFill>
              <a:srgbClr val="00B0F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5136383" y="4907520"/>
              <a:ext cx="317959" cy="188525"/>
            </a:xfrm>
            <a:prstGeom prst="rect">
              <a:avLst/>
            </a:prstGeom>
            <a:solidFill>
              <a:srgbClr val="F8766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5474215" y="4844678"/>
              <a:ext cx="317959" cy="251367"/>
            </a:xfrm>
            <a:prstGeom prst="rect">
              <a:avLst/>
            </a:prstGeom>
            <a:solidFill>
              <a:srgbClr val="A3A5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5812047" y="4781836"/>
              <a:ext cx="317959" cy="314209"/>
            </a:xfrm>
            <a:prstGeom prst="rect">
              <a:avLst/>
            </a:prstGeom>
            <a:solidFill>
              <a:srgbClr val="E76BF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" name="rc35"/>
            <p:cNvSpPr/>
            <p:nvPr/>
          </p:nvSpPr>
          <p:spPr>
            <a:xfrm>
              <a:off x="6149879" y="4467627"/>
              <a:ext cx="317959" cy="628419"/>
            </a:xfrm>
            <a:prstGeom prst="rect">
              <a:avLst/>
            </a:prstGeom>
            <a:solidFill>
              <a:srgbClr val="00B0F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" name="rc36"/>
            <p:cNvSpPr/>
            <p:nvPr/>
          </p:nvSpPr>
          <p:spPr>
            <a:xfrm>
              <a:off x="6487711" y="4279101"/>
              <a:ext cx="317959" cy="816945"/>
            </a:xfrm>
            <a:prstGeom prst="rect">
              <a:avLst/>
            </a:prstGeom>
            <a:solidFill>
              <a:srgbClr val="00BF7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" name="tx37"/>
            <p:cNvSpPr/>
            <p:nvPr/>
          </p:nvSpPr>
          <p:spPr>
            <a:xfrm>
              <a:off x="754887" y="505599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692708" y="4345881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692708" y="3635768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92708" y="2925654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692708" y="2215540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692708" y="1505426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1785441" y="5336204"/>
              <a:ext cx="4221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Non-frail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1793076" y="5456905"/>
              <a:ext cx="40690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(N=165)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3788234" y="5336204"/>
              <a:ext cx="39108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Pre-frail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3780325" y="5456905"/>
              <a:ext cx="40690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(N=314)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5862442" y="5336204"/>
              <a:ext cx="217170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Frail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5767573" y="5456905"/>
              <a:ext cx="40690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(N=113)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3459873" y="5596581"/>
              <a:ext cx="1047810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Fried frailty class</a:t>
              </a:r>
            </a:p>
          </p:txBody>
        </p:sp>
        <p:sp>
          <p:nvSpPr>
            <p:cNvPr id="50" name="tx50"/>
            <p:cNvSpPr/>
            <p:nvPr/>
          </p:nvSpPr>
          <p:spPr>
            <a:xfrm rot="-5400000">
              <a:off x="169121" y="3270652"/>
              <a:ext cx="815553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% overdosed</a:t>
              </a:r>
            </a:p>
          </p:txBody>
        </p:sp>
        <p:sp>
          <p:nvSpPr>
            <p:cNvPr id="51" name="rc51"/>
            <p:cNvSpPr/>
            <p:nvPr/>
          </p:nvSpPr>
          <p:spPr>
            <a:xfrm>
              <a:off x="7305628" y="2781121"/>
              <a:ext cx="201455" cy="201456"/>
            </a:xfrm>
            <a:prstGeom prst="rect">
              <a:avLst/>
            </a:prstGeom>
            <a:solidFill>
              <a:srgbClr val="F8766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" name="rc52"/>
            <p:cNvSpPr/>
            <p:nvPr/>
          </p:nvSpPr>
          <p:spPr>
            <a:xfrm>
              <a:off x="7305628" y="3000577"/>
              <a:ext cx="201455" cy="201456"/>
            </a:xfrm>
            <a:prstGeom prst="rect">
              <a:avLst/>
            </a:prstGeom>
            <a:solidFill>
              <a:srgbClr val="A3A5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" name="rc53"/>
            <p:cNvSpPr/>
            <p:nvPr/>
          </p:nvSpPr>
          <p:spPr>
            <a:xfrm>
              <a:off x="7305628" y="3220033"/>
              <a:ext cx="201455" cy="201456"/>
            </a:xfrm>
            <a:prstGeom prst="rect">
              <a:avLst/>
            </a:prstGeom>
            <a:solidFill>
              <a:srgbClr val="00BF7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" name="rc54"/>
            <p:cNvSpPr/>
            <p:nvPr/>
          </p:nvSpPr>
          <p:spPr>
            <a:xfrm>
              <a:off x="7305628" y="3439489"/>
              <a:ext cx="201455" cy="201456"/>
            </a:xfrm>
            <a:prstGeom prst="rect">
              <a:avLst/>
            </a:prstGeom>
            <a:solidFill>
              <a:srgbClr val="00B0F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" name="rc55"/>
            <p:cNvSpPr/>
            <p:nvPr/>
          </p:nvSpPr>
          <p:spPr>
            <a:xfrm>
              <a:off x="7305628" y="3658945"/>
              <a:ext cx="201455" cy="201456"/>
            </a:xfrm>
            <a:prstGeom prst="rect">
              <a:avLst/>
            </a:prstGeom>
            <a:solidFill>
              <a:srgbClr val="E76BF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" name="tx56"/>
            <p:cNvSpPr/>
            <p:nvPr/>
          </p:nvSpPr>
          <p:spPr>
            <a:xfrm>
              <a:off x="7585673" y="2841799"/>
              <a:ext cx="96194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Carboplatin (±20%)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7585673" y="3061255"/>
              <a:ext cx="96194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Carboplatin (±15%)</a:t>
              </a:r>
            </a:p>
          </p:txBody>
        </p:sp>
        <p:sp>
          <p:nvSpPr>
            <p:cNvPr id="58" name="tx58"/>
            <p:cNvSpPr/>
            <p:nvPr/>
          </p:nvSpPr>
          <p:spPr>
            <a:xfrm>
              <a:off x="7585673" y="3280711"/>
              <a:ext cx="42839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Cisplatin</a:t>
              </a:r>
            </a:p>
          </p:txBody>
        </p:sp>
        <p:sp>
          <p:nvSpPr>
            <p:cNvPr id="59" name="tx59"/>
            <p:cNvSpPr/>
            <p:nvPr/>
          </p:nvSpPr>
          <p:spPr>
            <a:xfrm>
              <a:off x="7585673" y="3500167"/>
              <a:ext cx="652241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Methotrexate</a:t>
              </a:r>
            </a:p>
          </p:txBody>
        </p:sp>
        <p:sp>
          <p:nvSpPr>
            <p:cNvPr id="60" name="tx60"/>
            <p:cNvSpPr/>
            <p:nvPr/>
          </p:nvSpPr>
          <p:spPr>
            <a:xfrm>
              <a:off x="7585673" y="3719623"/>
              <a:ext cx="515721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Melphalan</a:t>
              </a:r>
            </a:p>
          </p:txBody>
        </p:sp>
        <p:sp>
          <p:nvSpPr>
            <p:cNvPr id="61" name="tx61"/>
            <p:cNvSpPr/>
            <p:nvPr/>
          </p:nvSpPr>
          <p:spPr>
            <a:xfrm>
              <a:off x="879697" y="1166869"/>
              <a:ext cx="1452341" cy="1005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eGFRcys · EKFC 2023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457200" y="1097280"/>
            <a:ext cx="8229600" cy="4700016"/>
            <a:chOff x="457200" y="1097280"/>
            <a:chExt cx="8229600" cy="4700016"/>
          </a:xfrm>
        </p:grpSpPr>
        <p:sp>
          <p:nvSpPr>
            <p:cNvPr id="3" name="rc3"/>
            <p:cNvSpPr/>
            <p:nvPr/>
          </p:nvSpPr>
          <p:spPr>
            <a:xfrm>
              <a:off x="457200" y="1097280"/>
              <a:ext cx="8229600" cy="47000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79697" y="4740989"/>
              <a:ext cx="6208163" cy="0"/>
            </a:xfrm>
            <a:custGeom>
              <a:avLst/>
              <a:pathLst>
                <a:path w="6208163" h="0">
                  <a:moveTo>
                    <a:pt x="0" y="0"/>
                  </a:moveTo>
                  <a:lnTo>
                    <a:pt x="6208163" y="0"/>
                  </a:lnTo>
                  <a:lnTo>
                    <a:pt x="620816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79697" y="4030875"/>
              <a:ext cx="6208163" cy="0"/>
            </a:xfrm>
            <a:custGeom>
              <a:avLst/>
              <a:pathLst>
                <a:path w="6208163" h="0">
                  <a:moveTo>
                    <a:pt x="0" y="0"/>
                  </a:moveTo>
                  <a:lnTo>
                    <a:pt x="6208163" y="0"/>
                  </a:lnTo>
                  <a:lnTo>
                    <a:pt x="620816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79697" y="3320761"/>
              <a:ext cx="6208163" cy="0"/>
            </a:xfrm>
            <a:custGeom>
              <a:avLst/>
              <a:pathLst>
                <a:path w="6208163" h="0">
                  <a:moveTo>
                    <a:pt x="0" y="0"/>
                  </a:moveTo>
                  <a:lnTo>
                    <a:pt x="6208163" y="0"/>
                  </a:lnTo>
                  <a:lnTo>
                    <a:pt x="620816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79697" y="2610648"/>
              <a:ext cx="6208163" cy="0"/>
            </a:xfrm>
            <a:custGeom>
              <a:avLst/>
              <a:pathLst>
                <a:path w="6208163" h="0">
                  <a:moveTo>
                    <a:pt x="0" y="0"/>
                  </a:moveTo>
                  <a:lnTo>
                    <a:pt x="6208163" y="0"/>
                  </a:lnTo>
                  <a:lnTo>
                    <a:pt x="620816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879697" y="1900534"/>
              <a:ext cx="6208163" cy="0"/>
            </a:xfrm>
            <a:custGeom>
              <a:avLst/>
              <a:pathLst>
                <a:path w="6208163" h="0">
                  <a:moveTo>
                    <a:pt x="0" y="0"/>
                  </a:moveTo>
                  <a:lnTo>
                    <a:pt x="6208163" y="0"/>
                  </a:lnTo>
                  <a:lnTo>
                    <a:pt x="620816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002906" y="1367948"/>
              <a:ext cx="0" cy="3905626"/>
            </a:xfrm>
            <a:custGeom>
              <a:avLst/>
              <a:pathLst>
                <a:path w="0" h="3905626">
                  <a:moveTo>
                    <a:pt x="0" y="39056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990154" y="1367948"/>
              <a:ext cx="0" cy="3905626"/>
            </a:xfrm>
            <a:custGeom>
              <a:avLst/>
              <a:pathLst>
                <a:path w="0" h="3905626">
                  <a:moveTo>
                    <a:pt x="0" y="39056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977403" y="1367948"/>
              <a:ext cx="0" cy="3905626"/>
            </a:xfrm>
            <a:custGeom>
              <a:avLst/>
              <a:pathLst>
                <a:path w="0" h="3905626">
                  <a:moveTo>
                    <a:pt x="0" y="39056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6964651" y="1367948"/>
              <a:ext cx="0" cy="3905626"/>
            </a:xfrm>
            <a:custGeom>
              <a:avLst/>
              <a:pathLst>
                <a:path w="0" h="3905626">
                  <a:moveTo>
                    <a:pt x="0" y="39056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79697" y="5096046"/>
              <a:ext cx="6208163" cy="0"/>
            </a:xfrm>
            <a:custGeom>
              <a:avLst/>
              <a:pathLst>
                <a:path w="6208163" h="0">
                  <a:moveTo>
                    <a:pt x="0" y="0"/>
                  </a:moveTo>
                  <a:lnTo>
                    <a:pt x="6208163" y="0"/>
                  </a:lnTo>
                  <a:lnTo>
                    <a:pt x="620816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79697" y="4385932"/>
              <a:ext cx="6208163" cy="0"/>
            </a:xfrm>
            <a:custGeom>
              <a:avLst/>
              <a:pathLst>
                <a:path w="6208163" h="0">
                  <a:moveTo>
                    <a:pt x="0" y="0"/>
                  </a:moveTo>
                  <a:lnTo>
                    <a:pt x="6208163" y="0"/>
                  </a:lnTo>
                  <a:lnTo>
                    <a:pt x="620816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79697" y="3675818"/>
              <a:ext cx="6208163" cy="0"/>
            </a:xfrm>
            <a:custGeom>
              <a:avLst/>
              <a:pathLst>
                <a:path w="6208163" h="0">
                  <a:moveTo>
                    <a:pt x="0" y="0"/>
                  </a:moveTo>
                  <a:lnTo>
                    <a:pt x="6208163" y="0"/>
                  </a:lnTo>
                  <a:lnTo>
                    <a:pt x="620816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79697" y="2965704"/>
              <a:ext cx="6208163" cy="0"/>
            </a:xfrm>
            <a:custGeom>
              <a:avLst/>
              <a:pathLst>
                <a:path w="6208163" h="0">
                  <a:moveTo>
                    <a:pt x="0" y="0"/>
                  </a:moveTo>
                  <a:lnTo>
                    <a:pt x="6208163" y="0"/>
                  </a:lnTo>
                  <a:lnTo>
                    <a:pt x="620816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79697" y="2255591"/>
              <a:ext cx="6208163" cy="0"/>
            </a:xfrm>
            <a:custGeom>
              <a:avLst/>
              <a:pathLst>
                <a:path w="6208163" h="0">
                  <a:moveTo>
                    <a:pt x="0" y="0"/>
                  </a:moveTo>
                  <a:lnTo>
                    <a:pt x="6208163" y="0"/>
                  </a:lnTo>
                  <a:lnTo>
                    <a:pt x="620816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79697" y="1545477"/>
              <a:ext cx="6208163" cy="0"/>
            </a:xfrm>
            <a:custGeom>
              <a:avLst/>
              <a:pathLst>
                <a:path w="6208163" h="0">
                  <a:moveTo>
                    <a:pt x="0" y="0"/>
                  </a:moveTo>
                  <a:lnTo>
                    <a:pt x="6208163" y="0"/>
                  </a:lnTo>
                  <a:lnTo>
                    <a:pt x="620816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1996530" y="1367948"/>
              <a:ext cx="0" cy="3905626"/>
            </a:xfrm>
            <a:custGeom>
              <a:avLst/>
              <a:pathLst>
                <a:path w="0" h="3905626">
                  <a:moveTo>
                    <a:pt x="0" y="39056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3983779" y="1367948"/>
              <a:ext cx="0" cy="3905626"/>
            </a:xfrm>
            <a:custGeom>
              <a:avLst/>
              <a:pathLst>
                <a:path w="0" h="3905626">
                  <a:moveTo>
                    <a:pt x="0" y="39056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5971027" y="1367948"/>
              <a:ext cx="0" cy="3905626"/>
            </a:xfrm>
            <a:custGeom>
              <a:avLst/>
              <a:pathLst>
                <a:path w="0" h="3905626">
                  <a:moveTo>
                    <a:pt x="0" y="39056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1161886" y="4751748"/>
              <a:ext cx="317959" cy="344297"/>
            </a:xfrm>
            <a:prstGeom prst="rect">
              <a:avLst/>
            </a:prstGeom>
            <a:solidFill>
              <a:srgbClr val="E76BF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1499718" y="4708711"/>
              <a:ext cx="317959" cy="387334"/>
            </a:xfrm>
            <a:prstGeom prst="rect">
              <a:avLst/>
            </a:prstGeom>
            <a:solidFill>
              <a:srgbClr val="00BF7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1837550" y="4708711"/>
              <a:ext cx="317959" cy="387334"/>
            </a:xfrm>
            <a:prstGeom prst="rect">
              <a:avLst/>
            </a:prstGeom>
            <a:solidFill>
              <a:srgbClr val="00B0F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2175382" y="4579599"/>
              <a:ext cx="317959" cy="516446"/>
            </a:xfrm>
            <a:prstGeom prst="rect">
              <a:avLst/>
            </a:prstGeom>
            <a:solidFill>
              <a:srgbClr val="F8766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2513215" y="4235302"/>
              <a:ext cx="317959" cy="860744"/>
            </a:xfrm>
            <a:prstGeom prst="rect">
              <a:avLst/>
            </a:prstGeom>
            <a:solidFill>
              <a:srgbClr val="A3A5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3149134" y="4417593"/>
              <a:ext cx="317959" cy="678452"/>
            </a:xfrm>
            <a:prstGeom prst="rect">
              <a:avLst/>
            </a:prstGeom>
            <a:solidFill>
              <a:srgbClr val="F8766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3486966" y="4304518"/>
              <a:ext cx="317959" cy="791528"/>
            </a:xfrm>
            <a:prstGeom prst="rect">
              <a:avLst/>
            </a:prstGeom>
            <a:solidFill>
              <a:srgbClr val="E76BF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3824799" y="4055752"/>
              <a:ext cx="317959" cy="1040294"/>
            </a:xfrm>
            <a:prstGeom prst="rect">
              <a:avLst/>
            </a:prstGeom>
            <a:solidFill>
              <a:srgbClr val="00B0F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4162631" y="3965291"/>
              <a:ext cx="317959" cy="1130754"/>
            </a:xfrm>
            <a:prstGeom prst="rect">
              <a:avLst/>
            </a:prstGeom>
            <a:solidFill>
              <a:srgbClr val="00BF7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4500463" y="3829601"/>
              <a:ext cx="317959" cy="1266445"/>
            </a:xfrm>
            <a:prstGeom prst="rect">
              <a:avLst/>
            </a:prstGeom>
            <a:solidFill>
              <a:srgbClr val="A3A5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5136383" y="4404785"/>
              <a:ext cx="317959" cy="691261"/>
            </a:xfrm>
            <a:prstGeom prst="rect">
              <a:avLst/>
            </a:prstGeom>
            <a:solidFill>
              <a:srgbClr val="F8766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5474215" y="4341943"/>
              <a:ext cx="317959" cy="754103"/>
            </a:xfrm>
            <a:prstGeom prst="rect">
              <a:avLst/>
            </a:prstGeom>
            <a:solidFill>
              <a:srgbClr val="E76BF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5812047" y="3713523"/>
              <a:ext cx="317959" cy="1382522"/>
            </a:xfrm>
            <a:prstGeom prst="rect">
              <a:avLst/>
            </a:prstGeom>
            <a:solidFill>
              <a:srgbClr val="A3A5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" name="rc35"/>
            <p:cNvSpPr/>
            <p:nvPr/>
          </p:nvSpPr>
          <p:spPr>
            <a:xfrm>
              <a:off x="6149879" y="3713523"/>
              <a:ext cx="317959" cy="1382522"/>
            </a:xfrm>
            <a:prstGeom prst="rect">
              <a:avLst/>
            </a:prstGeom>
            <a:solidFill>
              <a:srgbClr val="00BF7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" name="rc36"/>
            <p:cNvSpPr/>
            <p:nvPr/>
          </p:nvSpPr>
          <p:spPr>
            <a:xfrm>
              <a:off x="6487711" y="3650681"/>
              <a:ext cx="317959" cy="1445364"/>
            </a:xfrm>
            <a:prstGeom prst="rect">
              <a:avLst/>
            </a:prstGeom>
            <a:solidFill>
              <a:srgbClr val="00B0F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" name="tx37"/>
            <p:cNvSpPr/>
            <p:nvPr/>
          </p:nvSpPr>
          <p:spPr>
            <a:xfrm>
              <a:off x="754887" y="505599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692708" y="4345881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692708" y="3635768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92708" y="2925654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692708" y="2215540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692708" y="1505426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1785441" y="5336204"/>
              <a:ext cx="4221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Non-frail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1793076" y="5456905"/>
              <a:ext cx="40690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(N=165)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3788234" y="5336204"/>
              <a:ext cx="39108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Pre-frail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3780325" y="5456905"/>
              <a:ext cx="40690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(N=314)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5862442" y="5336204"/>
              <a:ext cx="217170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Frail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5767573" y="5456905"/>
              <a:ext cx="40690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(N=113)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3459873" y="5596581"/>
              <a:ext cx="1047810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Fried frailty class</a:t>
              </a:r>
            </a:p>
          </p:txBody>
        </p:sp>
        <p:sp>
          <p:nvSpPr>
            <p:cNvPr id="50" name="tx50"/>
            <p:cNvSpPr/>
            <p:nvPr/>
          </p:nvSpPr>
          <p:spPr>
            <a:xfrm rot="-5400000">
              <a:off x="169121" y="3270652"/>
              <a:ext cx="815553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% overdosed</a:t>
              </a:r>
            </a:p>
          </p:txBody>
        </p:sp>
        <p:sp>
          <p:nvSpPr>
            <p:cNvPr id="51" name="rc51"/>
            <p:cNvSpPr/>
            <p:nvPr/>
          </p:nvSpPr>
          <p:spPr>
            <a:xfrm>
              <a:off x="7305628" y="2781121"/>
              <a:ext cx="201455" cy="201456"/>
            </a:xfrm>
            <a:prstGeom prst="rect">
              <a:avLst/>
            </a:prstGeom>
            <a:solidFill>
              <a:srgbClr val="F8766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" name="rc52"/>
            <p:cNvSpPr/>
            <p:nvPr/>
          </p:nvSpPr>
          <p:spPr>
            <a:xfrm>
              <a:off x="7305628" y="3000577"/>
              <a:ext cx="201455" cy="201456"/>
            </a:xfrm>
            <a:prstGeom prst="rect">
              <a:avLst/>
            </a:prstGeom>
            <a:solidFill>
              <a:srgbClr val="A3A5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" name="rc53"/>
            <p:cNvSpPr/>
            <p:nvPr/>
          </p:nvSpPr>
          <p:spPr>
            <a:xfrm>
              <a:off x="7305628" y="3220033"/>
              <a:ext cx="201455" cy="201456"/>
            </a:xfrm>
            <a:prstGeom prst="rect">
              <a:avLst/>
            </a:prstGeom>
            <a:solidFill>
              <a:srgbClr val="00BF7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" name="rc54"/>
            <p:cNvSpPr/>
            <p:nvPr/>
          </p:nvSpPr>
          <p:spPr>
            <a:xfrm>
              <a:off x="7305628" y="3439489"/>
              <a:ext cx="201455" cy="201456"/>
            </a:xfrm>
            <a:prstGeom prst="rect">
              <a:avLst/>
            </a:prstGeom>
            <a:solidFill>
              <a:srgbClr val="00B0F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" name="rc55"/>
            <p:cNvSpPr/>
            <p:nvPr/>
          </p:nvSpPr>
          <p:spPr>
            <a:xfrm>
              <a:off x="7305628" y="3658945"/>
              <a:ext cx="201455" cy="201456"/>
            </a:xfrm>
            <a:prstGeom prst="rect">
              <a:avLst/>
            </a:prstGeom>
            <a:solidFill>
              <a:srgbClr val="E76BF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" name="tx56"/>
            <p:cNvSpPr/>
            <p:nvPr/>
          </p:nvSpPr>
          <p:spPr>
            <a:xfrm>
              <a:off x="7585673" y="2841799"/>
              <a:ext cx="96194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Carboplatin (±20%)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7585673" y="3061255"/>
              <a:ext cx="96194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Carboplatin (±15%)</a:t>
              </a:r>
            </a:p>
          </p:txBody>
        </p:sp>
        <p:sp>
          <p:nvSpPr>
            <p:cNvPr id="58" name="tx58"/>
            <p:cNvSpPr/>
            <p:nvPr/>
          </p:nvSpPr>
          <p:spPr>
            <a:xfrm>
              <a:off x="7585673" y="3280711"/>
              <a:ext cx="42839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Cisplatin</a:t>
              </a:r>
            </a:p>
          </p:txBody>
        </p:sp>
        <p:sp>
          <p:nvSpPr>
            <p:cNvPr id="59" name="tx59"/>
            <p:cNvSpPr/>
            <p:nvPr/>
          </p:nvSpPr>
          <p:spPr>
            <a:xfrm>
              <a:off x="7585673" y="3500167"/>
              <a:ext cx="652241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Methotrexate</a:t>
              </a:r>
            </a:p>
          </p:txBody>
        </p:sp>
        <p:sp>
          <p:nvSpPr>
            <p:cNvPr id="60" name="tx60"/>
            <p:cNvSpPr/>
            <p:nvPr/>
          </p:nvSpPr>
          <p:spPr>
            <a:xfrm>
              <a:off x="7585673" y="3719623"/>
              <a:ext cx="515721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Melphalan</a:t>
              </a:r>
            </a:p>
          </p:txBody>
        </p:sp>
        <p:sp>
          <p:nvSpPr>
            <p:cNvPr id="61" name="tx61"/>
            <p:cNvSpPr/>
            <p:nvPr/>
          </p:nvSpPr>
          <p:spPr>
            <a:xfrm>
              <a:off x="879697" y="1166869"/>
              <a:ext cx="1825142" cy="1005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eGFRcr-cys · CKD-EPI 2021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457200" y="1097280"/>
            <a:ext cx="8229600" cy="4700016"/>
            <a:chOff x="457200" y="1097280"/>
            <a:chExt cx="8229600" cy="4700016"/>
          </a:xfrm>
        </p:grpSpPr>
        <p:sp>
          <p:nvSpPr>
            <p:cNvPr id="3" name="rc3"/>
            <p:cNvSpPr/>
            <p:nvPr/>
          </p:nvSpPr>
          <p:spPr>
            <a:xfrm>
              <a:off x="457200" y="1097280"/>
              <a:ext cx="8229600" cy="47000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79697" y="4740989"/>
              <a:ext cx="6208163" cy="0"/>
            </a:xfrm>
            <a:custGeom>
              <a:avLst/>
              <a:pathLst>
                <a:path w="6208163" h="0">
                  <a:moveTo>
                    <a:pt x="0" y="0"/>
                  </a:moveTo>
                  <a:lnTo>
                    <a:pt x="6208163" y="0"/>
                  </a:lnTo>
                  <a:lnTo>
                    <a:pt x="620816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79697" y="4030875"/>
              <a:ext cx="6208163" cy="0"/>
            </a:xfrm>
            <a:custGeom>
              <a:avLst/>
              <a:pathLst>
                <a:path w="6208163" h="0">
                  <a:moveTo>
                    <a:pt x="0" y="0"/>
                  </a:moveTo>
                  <a:lnTo>
                    <a:pt x="6208163" y="0"/>
                  </a:lnTo>
                  <a:lnTo>
                    <a:pt x="620816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79697" y="3320761"/>
              <a:ext cx="6208163" cy="0"/>
            </a:xfrm>
            <a:custGeom>
              <a:avLst/>
              <a:pathLst>
                <a:path w="6208163" h="0">
                  <a:moveTo>
                    <a:pt x="0" y="0"/>
                  </a:moveTo>
                  <a:lnTo>
                    <a:pt x="6208163" y="0"/>
                  </a:lnTo>
                  <a:lnTo>
                    <a:pt x="620816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79697" y="2610648"/>
              <a:ext cx="6208163" cy="0"/>
            </a:xfrm>
            <a:custGeom>
              <a:avLst/>
              <a:pathLst>
                <a:path w="6208163" h="0">
                  <a:moveTo>
                    <a:pt x="0" y="0"/>
                  </a:moveTo>
                  <a:lnTo>
                    <a:pt x="6208163" y="0"/>
                  </a:lnTo>
                  <a:lnTo>
                    <a:pt x="620816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879697" y="1900534"/>
              <a:ext cx="6208163" cy="0"/>
            </a:xfrm>
            <a:custGeom>
              <a:avLst/>
              <a:pathLst>
                <a:path w="6208163" h="0">
                  <a:moveTo>
                    <a:pt x="0" y="0"/>
                  </a:moveTo>
                  <a:lnTo>
                    <a:pt x="6208163" y="0"/>
                  </a:lnTo>
                  <a:lnTo>
                    <a:pt x="620816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002906" y="1367948"/>
              <a:ext cx="0" cy="3905626"/>
            </a:xfrm>
            <a:custGeom>
              <a:avLst/>
              <a:pathLst>
                <a:path w="0" h="3905626">
                  <a:moveTo>
                    <a:pt x="0" y="39056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990154" y="1367948"/>
              <a:ext cx="0" cy="3905626"/>
            </a:xfrm>
            <a:custGeom>
              <a:avLst/>
              <a:pathLst>
                <a:path w="0" h="3905626">
                  <a:moveTo>
                    <a:pt x="0" y="39056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977403" y="1367948"/>
              <a:ext cx="0" cy="3905626"/>
            </a:xfrm>
            <a:custGeom>
              <a:avLst/>
              <a:pathLst>
                <a:path w="0" h="3905626">
                  <a:moveTo>
                    <a:pt x="0" y="39056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6964651" y="1367948"/>
              <a:ext cx="0" cy="3905626"/>
            </a:xfrm>
            <a:custGeom>
              <a:avLst/>
              <a:pathLst>
                <a:path w="0" h="3905626">
                  <a:moveTo>
                    <a:pt x="0" y="39056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79697" y="5096046"/>
              <a:ext cx="6208163" cy="0"/>
            </a:xfrm>
            <a:custGeom>
              <a:avLst/>
              <a:pathLst>
                <a:path w="6208163" h="0">
                  <a:moveTo>
                    <a:pt x="0" y="0"/>
                  </a:moveTo>
                  <a:lnTo>
                    <a:pt x="6208163" y="0"/>
                  </a:lnTo>
                  <a:lnTo>
                    <a:pt x="620816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79697" y="4385932"/>
              <a:ext cx="6208163" cy="0"/>
            </a:xfrm>
            <a:custGeom>
              <a:avLst/>
              <a:pathLst>
                <a:path w="6208163" h="0">
                  <a:moveTo>
                    <a:pt x="0" y="0"/>
                  </a:moveTo>
                  <a:lnTo>
                    <a:pt x="6208163" y="0"/>
                  </a:lnTo>
                  <a:lnTo>
                    <a:pt x="620816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79697" y="3675818"/>
              <a:ext cx="6208163" cy="0"/>
            </a:xfrm>
            <a:custGeom>
              <a:avLst/>
              <a:pathLst>
                <a:path w="6208163" h="0">
                  <a:moveTo>
                    <a:pt x="0" y="0"/>
                  </a:moveTo>
                  <a:lnTo>
                    <a:pt x="6208163" y="0"/>
                  </a:lnTo>
                  <a:lnTo>
                    <a:pt x="620816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79697" y="2965704"/>
              <a:ext cx="6208163" cy="0"/>
            </a:xfrm>
            <a:custGeom>
              <a:avLst/>
              <a:pathLst>
                <a:path w="6208163" h="0">
                  <a:moveTo>
                    <a:pt x="0" y="0"/>
                  </a:moveTo>
                  <a:lnTo>
                    <a:pt x="6208163" y="0"/>
                  </a:lnTo>
                  <a:lnTo>
                    <a:pt x="620816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79697" y="2255591"/>
              <a:ext cx="6208163" cy="0"/>
            </a:xfrm>
            <a:custGeom>
              <a:avLst/>
              <a:pathLst>
                <a:path w="6208163" h="0">
                  <a:moveTo>
                    <a:pt x="0" y="0"/>
                  </a:moveTo>
                  <a:lnTo>
                    <a:pt x="6208163" y="0"/>
                  </a:lnTo>
                  <a:lnTo>
                    <a:pt x="620816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79697" y="1545477"/>
              <a:ext cx="6208163" cy="0"/>
            </a:xfrm>
            <a:custGeom>
              <a:avLst/>
              <a:pathLst>
                <a:path w="6208163" h="0">
                  <a:moveTo>
                    <a:pt x="0" y="0"/>
                  </a:moveTo>
                  <a:lnTo>
                    <a:pt x="6208163" y="0"/>
                  </a:lnTo>
                  <a:lnTo>
                    <a:pt x="620816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1996530" y="1367948"/>
              <a:ext cx="0" cy="3905626"/>
            </a:xfrm>
            <a:custGeom>
              <a:avLst/>
              <a:pathLst>
                <a:path w="0" h="3905626">
                  <a:moveTo>
                    <a:pt x="0" y="39056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3983779" y="1367948"/>
              <a:ext cx="0" cy="3905626"/>
            </a:xfrm>
            <a:custGeom>
              <a:avLst/>
              <a:pathLst>
                <a:path w="0" h="3905626">
                  <a:moveTo>
                    <a:pt x="0" y="39056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5971027" y="1367948"/>
              <a:ext cx="0" cy="3905626"/>
            </a:xfrm>
            <a:custGeom>
              <a:avLst/>
              <a:pathLst>
                <a:path w="0" h="3905626">
                  <a:moveTo>
                    <a:pt x="0" y="39056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1161886" y="4966934"/>
              <a:ext cx="317959" cy="129111"/>
            </a:xfrm>
            <a:prstGeom prst="rect">
              <a:avLst/>
            </a:prstGeom>
            <a:solidFill>
              <a:srgbClr val="F8766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1499718" y="4837823"/>
              <a:ext cx="317959" cy="258223"/>
            </a:xfrm>
            <a:prstGeom prst="rect">
              <a:avLst/>
            </a:prstGeom>
            <a:solidFill>
              <a:srgbClr val="E76BF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1837550" y="4794785"/>
              <a:ext cx="317959" cy="301260"/>
            </a:xfrm>
            <a:prstGeom prst="rect">
              <a:avLst/>
            </a:prstGeom>
            <a:solidFill>
              <a:srgbClr val="A3A5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2175382" y="4794785"/>
              <a:ext cx="317959" cy="301260"/>
            </a:xfrm>
            <a:prstGeom prst="rect">
              <a:avLst/>
            </a:prstGeom>
            <a:solidFill>
              <a:srgbClr val="00B0F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2513215" y="4751748"/>
              <a:ext cx="317959" cy="344297"/>
            </a:xfrm>
            <a:prstGeom prst="rect">
              <a:avLst/>
            </a:prstGeom>
            <a:solidFill>
              <a:srgbClr val="00BF7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3149134" y="4869895"/>
              <a:ext cx="317959" cy="226150"/>
            </a:xfrm>
            <a:prstGeom prst="rect">
              <a:avLst/>
            </a:prstGeom>
            <a:solidFill>
              <a:srgbClr val="F8766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3486966" y="4734204"/>
              <a:ext cx="317959" cy="361841"/>
            </a:xfrm>
            <a:prstGeom prst="rect">
              <a:avLst/>
            </a:prstGeom>
            <a:solidFill>
              <a:srgbClr val="A3A5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3824799" y="4530669"/>
              <a:ext cx="317959" cy="565377"/>
            </a:xfrm>
            <a:prstGeom prst="rect">
              <a:avLst/>
            </a:prstGeom>
            <a:solidFill>
              <a:srgbClr val="E76BF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4162631" y="4349748"/>
              <a:ext cx="317959" cy="746297"/>
            </a:xfrm>
            <a:prstGeom prst="rect">
              <a:avLst/>
            </a:prstGeom>
            <a:solidFill>
              <a:srgbClr val="00B0F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4500463" y="4236672"/>
              <a:ext cx="317959" cy="859373"/>
            </a:xfrm>
            <a:prstGeom prst="rect">
              <a:avLst/>
            </a:prstGeom>
            <a:solidFill>
              <a:srgbClr val="00BF7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5136383" y="4593310"/>
              <a:ext cx="317959" cy="502735"/>
            </a:xfrm>
            <a:prstGeom prst="rect">
              <a:avLst/>
            </a:prstGeom>
            <a:solidFill>
              <a:srgbClr val="F8766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5474215" y="4467627"/>
              <a:ext cx="317959" cy="628419"/>
            </a:xfrm>
            <a:prstGeom prst="rect">
              <a:avLst/>
            </a:prstGeom>
            <a:solidFill>
              <a:srgbClr val="A3A5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5812047" y="4404785"/>
              <a:ext cx="317959" cy="691261"/>
            </a:xfrm>
            <a:prstGeom prst="rect">
              <a:avLst/>
            </a:prstGeom>
            <a:solidFill>
              <a:srgbClr val="E76BF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" name="rc35"/>
            <p:cNvSpPr/>
            <p:nvPr/>
          </p:nvSpPr>
          <p:spPr>
            <a:xfrm>
              <a:off x="6149879" y="3776365"/>
              <a:ext cx="317959" cy="1319680"/>
            </a:xfrm>
            <a:prstGeom prst="rect">
              <a:avLst/>
            </a:prstGeom>
            <a:solidFill>
              <a:srgbClr val="00BF7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" name="rc36"/>
            <p:cNvSpPr/>
            <p:nvPr/>
          </p:nvSpPr>
          <p:spPr>
            <a:xfrm>
              <a:off x="6487711" y="3776365"/>
              <a:ext cx="317959" cy="1319680"/>
            </a:xfrm>
            <a:prstGeom prst="rect">
              <a:avLst/>
            </a:prstGeom>
            <a:solidFill>
              <a:srgbClr val="00B0F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" name="tx37"/>
            <p:cNvSpPr/>
            <p:nvPr/>
          </p:nvSpPr>
          <p:spPr>
            <a:xfrm>
              <a:off x="754887" y="505599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692708" y="4345881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692708" y="3635768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92708" y="2925654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692708" y="2215540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692708" y="1505426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1785441" y="5336204"/>
              <a:ext cx="4221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Non-frail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1793076" y="5456905"/>
              <a:ext cx="40690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(N=165)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3788234" y="5336204"/>
              <a:ext cx="39108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Pre-frail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3780325" y="5456905"/>
              <a:ext cx="40690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(N=314)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5862442" y="5336204"/>
              <a:ext cx="217170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Frail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5767573" y="5456905"/>
              <a:ext cx="40690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(N=113)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3459873" y="5596581"/>
              <a:ext cx="1047810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Fried frailty class</a:t>
              </a:r>
            </a:p>
          </p:txBody>
        </p:sp>
        <p:sp>
          <p:nvSpPr>
            <p:cNvPr id="50" name="tx50"/>
            <p:cNvSpPr/>
            <p:nvPr/>
          </p:nvSpPr>
          <p:spPr>
            <a:xfrm rot="-5400000">
              <a:off x="169121" y="3270652"/>
              <a:ext cx="815553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% overdosed</a:t>
              </a:r>
            </a:p>
          </p:txBody>
        </p:sp>
        <p:sp>
          <p:nvSpPr>
            <p:cNvPr id="51" name="rc51"/>
            <p:cNvSpPr/>
            <p:nvPr/>
          </p:nvSpPr>
          <p:spPr>
            <a:xfrm>
              <a:off x="7305628" y="2781121"/>
              <a:ext cx="201455" cy="201456"/>
            </a:xfrm>
            <a:prstGeom prst="rect">
              <a:avLst/>
            </a:prstGeom>
            <a:solidFill>
              <a:srgbClr val="F8766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" name="rc52"/>
            <p:cNvSpPr/>
            <p:nvPr/>
          </p:nvSpPr>
          <p:spPr>
            <a:xfrm>
              <a:off x="7305628" y="3000577"/>
              <a:ext cx="201455" cy="201456"/>
            </a:xfrm>
            <a:prstGeom prst="rect">
              <a:avLst/>
            </a:prstGeom>
            <a:solidFill>
              <a:srgbClr val="A3A5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" name="rc53"/>
            <p:cNvSpPr/>
            <p:nvPr/>
          </p:nvSpPr>
          <p:spPr>
            <a:xfrm>
              <a:off x="7305628" y="3220033"/>
              <a:ext cx="201455" cy="201456"/>
            </a:xfrm>
            <a:prstGeom prst="rect">
              <a:avLst/>
            </a:prstGeom>
            <a:solidFill>
              <a:srgbClr val="00BF7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" name="rc54"/>
            <p:cNvSpPr/>
            <p:nvPr/>
          </p:nvSpPr>
          <p:spPr>
            <a:xfrm>
              <a:off x="7305628" y="3439489"/>
              <a:ext cx="201455" cy="201456"/>
            </a:xfrm>
            <a:prstGeom prst="rect">
              <a:avLst/>
            </a:prstGeom>
            <a:solidFill>
              <a:srgbClr val="00B0F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" name="rc55"/>
            <p:cNvSpPr/>
            <p:nvPr/>
          </p:nvSpPr>
          <p:spPr>
            <a:xfrm>
              <a:off x="7305628" y="3658945"/>
              <a:ext cx="201455" cy="201456"/>
            </a:xfrm>
            <a:prstGeom prst="rect">
              <a:avLst/>
            </a:prstGeom>
            <a:solidFill>
              <a:srgbClr val="E76BF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" name="tx56"/>
            <p:cNvSpPr/>
            <p:nvPr/>
          </p:nvSpPr>
          <p:spPr>
            <a:xfrm>
              <a:off x="7585673" y="2841799"/>
              <a:ext cx="96194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Carboplatin (±20%)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7585673" y="3061255"/>
              <a:ext cx="96194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Carboplatin (±15%)</a:t>
              </a:r>
            </a:p>
          </p:txBody>
        </p:sp>
        <p:sp>
          <p:nvSpPr>
            <p:cNvPr id="58" name="tx58"/>
            <p:cNvSpPr/>
            <p:nvPr/>
          </p:nvSpPr>
          <p:spPr>
            <a:xfrm>
              <a:off x="7585673" y="3280711"/>
              <a:ext cx="42839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Cisplatin</a:t>
              </a:r>
            </a:p>
          </p:txBody>
        </p:sp>
        <p:sp>
          <p:nvSpPr>
            <p:cNvPr id="59" name="tx59"/>
            <p:cNvSpPr/>
            <p:nvPr/>
          </p:nvSpPr>
          <p:spPr>
            <a:xfrm>
              <a:off x="7585673" y="3500167"/>
              <a:ext cx="652241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Methotrexate</a:t>
              </a:r>
            </a:p>
          </p:txBody>
        </p:sp>
        <p:sp>
          <p:nvSpPr>
            <p:cNvPr id="60" name="tx60"/>
            <p:cNvSpPr/>
            <p:nvPr/>
          </p:nvSpPr>
          <p:spPr>
            <a:xfrm>
              <a:off x="7585673" y="3719623"/>
              <a:ext cx="515721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Melphalan</a:t>
              </a:r>
            </a:p>
          </p:txBody>
        </p:sp>
        <p:sp>
          <p:nvSpPr>
            <p:cNvPr id="61" name="tx61"/>
            <p:cNvSpPr/>
            <p:nvPr/>
          </p:nvSpPr>
          <p:spPr>
            <a:xfrm>
              <a:off x="879697" y="1166869"/>
              <a:ext cx="1631015" cy="1005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eGFRcr-cys · EKFC 2023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457200" y="1097280"/>
            <a:ext cx="8229600" cy="4700016"/>
            <a:chOff x="457200" y="1097280"/>
            <a:chExt cx="8229600" cy="4700016"/>
          </a:xfrm>
        </p:grpSpPr>
        <p:sp>
          <p:nvSpPr>
            <p:cNvPr id="3" name="rc3"/>
            <p:cNvSpPr/>
            <p:nvPr/>
          </p:nvSpPr>
          <p:spPr>
            <a:xfrm>
              <a:off x="457200" y="1097280"/>
              <a:ext cx="8229600" cy="47000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79697" y="4740989"/>
              <a:ext cx="6208163" cy="0"/>
            </a:xfrm>
            <a:custGeom>
              <a:avLst/>
              <a:pathLst>
                <a:path w="6208163" h="0">
                  <a:moveTo>
                    <a:pt x="0" y="0"/>
                  </a:moveTo>
                  <a:lnTo>
                    <a:pt x="6208163" y="0"/>
                  </a:lnTo>
                  <a:lnTo>
                    <a:pt x="620816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79697" y="4030875"/>
              <a:ext cx="6208163" cy="0"/>
            </a:xfrm>
            <a:custGeom>
              <a:avLst/>
              <a:pathLst>
                <a:path w="6208163" h="0">
                  <a:moveTo>
                    <a:pt x="0" y="0"/>
                  </a:moveTo>
                  <a:lnTo>
                    <a:pt x="6208163" y="0"/>
                  </a:lnTo>
                  <a:lnTo>
                    <a:pt x="620816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79697" y="3320761"/>
              <a:ext cx="6208163" cy="0"/>
            </a:xfrm>
            <a:custGeom>
              <a:avLst/>
              <a:pathLst>
                <a:path w="6208163" h="0">
                  <a:moveTo>
                    <a:pt x="0" y="0"/>
                  </a:moveTo>
                  <a:lnTo>
                    <a:pt x="6208163" y="0"/>
                  </a:lnTo>
                  <a:lnTo>
                    <a:pt x="620816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79697" y="2610648"/>
              <a:ext cx="6208163" cy="0"/>
            </a:xfrm>
            <a:custGeom>
              <a:avLst/>
              <a:pathLst>
                <a:path w="6208163" h="0">
                  <a:moveTo>
                    <a:pt x="0" y="0"/>
                  </a:moveTo>
                  <a:lnTo>
                    <a:pt x="6208163" y="0"/>
                  </a:lnTo>
                  <a:lnTo>
                    <a:pt x="620816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879697" y="1900534"/>
              <a:ext cx="6208163" cy="0"/>
            </a:xfrm>
            <a:custGeom>
              <a:avLst/>
              <a:pathLst>
                <a:path w="6208163" h="0">
                  <a:moveTo>
                    <a:pt x="0" y="0"/>
                  </a:moveTo>
                  <a:lnTo>
                    <a:pt x="6208163" y="0"/>
                  </a:lnTo>
                  <a:lnTo>
                    <a:pt x="620816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002906" y="1367948"/>
              <a:ext cx="0" cy="3905626"/>
            </a:xfrm>
            <a:custGeom>
              <a:avLst/>
              <a:pathLst>
                <a:path w="0" h="3905626">
                  <a:moveTo>
                    <a:pt x="0" y="39056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990154" y="1367948"/>
              <a:ext cx="0" cy="3905626"/>
            </a:xfrm>
            <a:custGeom>
              <a:avLst/>
              <a:pathLst>
                <a:path w="0" h="3905626">
                  <a:moveTo>
                    <a:pt x="0" y="39056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977403" y="1367948"/>
              <a:ext cx="0" cy="3905626"/>
            </a:xfrm>
            <a:custGeom>
              <a:avLst/>
              <a:pathLst>
                <a:path w="0" h="3905626">
                  <a:moveTo>
                    <a:pt x="0" y="39056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6964651" y="1367948"/>
              <a:ext cx="0" cy="3905626"/>
            </a:xfrm>
            <a:custGeom>
              <a:avLst/>
              <a:pathLst>
                <a:path w="0" h="3905626">
                  <a:moveTo>
                    <a:pt x="0" y="39056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79697" y="5096046"/>
              <a:ext cx="6208163" cy="0"/>
            </a:xfrm>
            <a:custGeom>
              <a:avLst/>
              <a:pathLst>
                <a:path w="6208163" h="0">
                  <a:moveTo>
                    <a:pt x="0" y="0"/>
                  </a:moveTo>
                  <a:lnTo>
                    <a:pt x="6208163" y="0"/>
                  </a:lnTo>
                  <a:lnTo>
                    <a:pt x="620816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79697" y="4385932"/>
              <a:ext cx="6208163" cy="0"/>
            </a:xfrm>
            <a:custGeom>
              <a:avLst/>
              <a:pathLst>
                <a:path w="6208163" h="0">
                  <a:moveTo>
                    <a:pt x="0" y="0"/>
                  </a:moveTo>
                  <a:lnTo>
                    <a:pt x="6208163" y="0"/>
                  </a:lnTo>
                  <a:lnTo>
                    <a:pt x="620816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79697" y="3675818"/>
              <a:ext cx="6208163" cy="0"/>
            </a:xfrm>
            <a:custGeom>
              <a:avLst/>
              <a:pathLst>
                <a:path w="6208163" h="0">
                  <a:moveTo>
                    <a:pt x="0" y="0"/>
                  </a:moveTo>
                  <a:lnTo>
                    <a:pt x="6208163" y="0"/>
                  </a:lnTo>
                  <a:lnTo>
                    <a:pt x="620816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79697" y="2965704"/>
              <a:ext cx="6208163" cy="0"/>
            </a:xfrm>
            <a:custGeom>
              <a:avLst/>
              <a:pathLst>
                <a:path w="6208163" h="0">
                  <a:moveTo>
                    <a:pt x="0" y="0"/>
                  </a:moveTo>
                  <a:lnTo>
                    <a:pt x="6208163" y="0"/>
                  </a:lnTo>
                  <a:lnTo>
                    <a:pt x="620816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79697" y="2255591"/>
              <a:ext cx="6208163" cy="0"/>
            </a:xfrm>
            <a:custGeom>
              <a:avLst/>
              <a:pathLst>
                <a:path w="6208163" h="0">
                  <a:moveTo>
                    <a:pt x="0" y="0"/>
                  </a:moveTo>
                  <a:lnTo>
                    <a:pt x="6208163" y="0"/>
                  </a:lnTo>
                  <a:lnTo>
                    <a:pt x="620816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79697" y="1545477"/>
              <a:ext cx="6208163" cy="0"/>
            </a:xfrm>
            <a:custGeom>
              <a:avLst/>
              <a:pathLst>
                <a:path w="6208163" h="0">
                  <a:moveTo>
                    <a:pt x="0" y="0"/>
                  </a:moveTo>
                  <a:lnTo>
                    <a:pt x="6208163" y="0"/>
                  </a:lnTo>
                  <a:lnTo>
                    <a:pt x="620816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1996530" y="1367948"/>
              <a:ext cx="0" cy="3905626"/>
            </a:xfrm>
            <a:custGeom>
              <a:avLst/>
              <a:pathLst>
                <a:path w="0" h="3905626">
                  <a:moveTo>
                    <a:pt x="0" y="39056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3983779" y="1367948"/>
              <a:ext cx="0" cy="3905626"/>
            </a:xfrm>
            <a:custGeom>
              <a:avLst/>
              <a:pathLst>
                <a:path w="0" h="3905626">
                  <a:moveTo>
                    <a:pt x="0" y="39056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5971027" y="1367948"/>
              <a:ext cx="0" cy="3905626"/>
            </a:xfrm>
            <a:custGeom>
              <a:avLst/>
              <a:pathLst>
                <a:path w="0" h="3905626">
                  <a:moveTo>
                    <a:pt x="0" y="39056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1161886" y="4708711"/>
              <a:ext cx="317959" cy="387334"/>
            </a:xfrm>
            <a:prstGeom prst="rect">
              <a:avLst/>
            </a:prstGeom>
            <a:solidFill>
              <a:srgbClr val="E76BF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1499718" y="4622637"/>
              <a:ext cx="317959" cy="473409"/>
            </a:xfrm>
            <a:prstGeom prst="rect">
              <a:avLst/>
            </a:prstGeom>
            <a:solidFill>
              <a:srgbClr val="00BF7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1837550" y="4622637"/>
              <a:ext cx="317959" cy="473409"/>
            </a:xfrm>
            <a:prstGeom prst="rect">
              <a:avLst/>
            </a:prstGeom>
            <a:solidFill>
              <a:srgbClr val="00B0F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2175382" y="4235302"/>
              <a:ext cx="317959" cy="860744"/>
            </a:xfrm>
            <a:prstGeom prst="rect">
              <a:avLst/>
            </a:prstGeom>
            <a:solidFill>
              <a:srgbClr val="F8766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2513215" y="3891004"/>
              <a:ext cx="317959" cy="1205041"/>
            </a:xfrm>
            <a:prstGeom prst="rect">
              <a:avLst/>
            </a:prstGeom>
            <a:solidFill>
              <a:srgbClr val="A3A5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3149134" y="4191442"/>
              <a:ext cx="317959" cy="904603"/>
            </a:xfrm>
            <a:prstGeom prst="rect">
              <a:avLst/>
            </a:prstGeom>
            <a:solidFill>
              <a:srgbClr val="E76BF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3486966" y="3942676"/>
              <a:ext cx="317959" cy="1153369"/>
            </a:xfrm>
            <a:prstGeom prst="rect">
              <a:avLst/>
            </a:prstGeom>
            <a:solidFill>
              <a:srgbClr val="00BF7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3824799" y="3942676"/>
              <a:ext cx="317959" cy="1153369"/>
            </a:xfrm>
            <a:prstGeom prst="rect">
              <a:avLst/>
            </a:prstGeom>
            <a:solidFill>
              <a:srgbClr val="00B0F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4162631" y="3897446"/>
              <a:ext cx="317959" cy="1198599"/>
            </a:xfrm>
            <a:prstGeom prst="rect">
              <a:avLst/>
            </a:prstGeom>
            <a:solidFill>
              <a:srgbClr val="F8766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4500463" y="3603450"/>
              <a:ext cx="317959" cy="1492595"/>
            </a:xfrm>
            <a:prstGeom prst="rect">
              <a:avLst/>
            </a:prstGeom>
            <a:solidFill>
              <a:srgbClr val="A3A5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5136383" y="4090575"/>
              <a:ext cx="317959" cy="1005470"/>
            </a:xfrm>
            <a:prstGeom prst="rect">
              <a:avLst/>
            </a:prstGeom>
            <a:solidFill>
              <a:srgbClr val="E76BF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5474215" y="3524998"/>
              <a:ext cx="317959" cy="1571048"/>
            </a:xfrm>
            <a:prstGeom prst="rect">
              <a:avLst/>
            </a:prstGeom>
            <a:solidFill>
              <a:srgbClr val="00B0F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5812047" y="3399314"/>
              <a:ext cx="317959" cy="1696732"/>
            </a:xfrm>
            <a:prstGeom prst="rect">
              <a:avLst/>
            </a:prstGeom>
            <a:solidFill>
              <a:srgbClr val="F8766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" name="rc35"/>
            <p:cNvSpPr/>
            <p:nvPr/>
          </p:nvSpPr>
          <p:spPr>
            <a:xfrm>
              <a:off x="6149879" y="3336472"/>
              <a:ext cx="317959" cy="1759574"/>
            </a:xfrm>
            <a:prstGeom prst="rect">
              <a:avLst/>
            </a:prstGeom>
            <a:solidFill>
              <a:srgbClr val="00BF7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" name="rc36"/>
            <p:cNvSpPr/>
            <p:nvPr/>
          </p:nvSpPr>
          <p:spPr>
            <a:xfrm>
              <a:off x="6487711" y="2519527"/>
              <a:ext cx="317959" cy="2576519"/>
            </a:xfrm>
            <a:prstGeom prst="rect">
              <a:avLst/>
            </a:prstGeom>
            <a:solidFill>
              <a:srgbClr val="A3A5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" name="tx37"/>
            <p:cNvSpPr/>
            <p:nvPr/>
          </p:nvSpPr>
          <p:spPr>
            <a:xfrm>
              <a:off x="754887" y="505599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692708" y="4345881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692708" y="3635768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92708" y="2925654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692708" y="2215540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692708" y="1505426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1785441" y="5336204"/>
              <a:ext cx="4221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Non-frail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1793076" y="5456905"/>
              <a:ext cx="40690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(N=165)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3788234" y="5336204"/>
              <a:ext cx="39108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Pre-frail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3780325" y="5456905"/>
              <a:ext cx="40690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(N=314)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5862442" y="5336204"/>
              <a:ext cx="217170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Frail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5767573" y="5456905"/>
              <a:ext cx="40690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(N=113)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3459873" y="5596581"/>
              <a:ext cx="1047810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Fried frailty class</a:t>
              </a:r>
            </a:p>
          </p:txBody>
        </p:sp>
        <p:sp>
          <p:nvSpPr>
            <p:cNvPr id="50" name="tx50"/>
            <p:cNvSpPr/>
            <p:nvPr/>
          </p:nvSpPr>
          <p:spPr>
            <a:xfrm rot="-5400000">
              <a:off x="169121" y="3270652"/>
              <a:ext cx="815553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% overdosed</a:t>
              </a:r>
            </a:p>
          </p:txBody>
        </p:sp>
        <p:sp>
          <p:nvSpPr>
            <p:cNvPr id="51" name="rc51"/>
            <p:cNvSpPr/>
            <p:nvPr/>
          </p:nvSpPr>
          <p:spPr>
            <a:xfrm>
              <a:off x="7305628" y="2781121"/>
              <a:ext cx="201455" cy="201456"/>
            </a:xfrm>
            <a:prstGeom prst="rect">
              <a:avLst/>
            </a:prstGeom>
            <a:solidFill>
              <a:srgbClr val="F8766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" name="rc52"/>
            <p:cNvSpPr/>
            <p:nvPr/>
          </p:nvSpPr>
          <p:spPr>
            <a:xfrm>
              <a:off x="7305628" y="3000577"/>
              <a:ext cx="201455" cy="201456"/>
            </a:xfrm>
            <a:prstGeom prst="rect">
              <a:avLst/>
            </a:prstGeom>
            <a:solidFill>
              <a:srgbClr val="A3A5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" name="rc53"/>
            <p:cNvSpPr/>
            <p:nvPr/>
          </p:nvSpPr>
          <p:spPr>
            <a:xfrm>
              <a:off x="7305628" y="3220033"/>
              <a:ext cx="201455" cy="201456"/>
            </a:xfrm>
            <a:prstGeom prst="rect">
              <a:avLst/>
            </a:prstGeom>
            <a:solidFill>
              <a:srgbClr val="00BF7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" name="rc54"/>
            <p:cNvSpPr/>
            <p:nvPr/>
          </p:nvSpPr>
          <p:spPr>
            <a:xfrm>
              <a:off x="7305628" y="3439489"/>
              <a:ext cx="201455" cy="201456"/>
            </a:xfrm>
            <a:prstGeom prst="rect">
              <a:avLst/>
            </a:prstGeom>
            <a:solidFill>
              <a:srgbClr val="00B0F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" name="rc55"/>
            <p:cNvSpPr/>
            <p:nvPr/>
          </p:nvSpPr>
          <p:spPr>
            <a:xfrm>
              <a:off x="7305628" y="3658945"/>
              <a:ext cx="201455" cy="201456"/>
            </a:xfrm>
            <a:prstGeom prst="rect">
              <a:avLst/>
            </a:prstGeom>
            <a:solidFill>
              <a:srgbClr val="E76BF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" name="tx56"/>
            <p:cNvSpPr/>
            <p:nvPr/>
          </p:nvSpPr>
          <p:spPr>
            <a:xfrm>
              <a:off x="7585673" y="2841799"/>
              <a:ext cx="96194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Carboplatin (±20%)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7585673" y="3061255"/>
              <a:ext cx="96194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Carboplatin (±15%)</a:t>
              </a:r>
            </a:p>
          </p:txBody>
        </p:sp>
        <p:sp>
          <p:nvSpPr>
            <p:cNvPr id="58" name="tx58"/>
            <p:cNvSpPr/>
            <p:nvPr/>
          </p:nvSpPr>
          <p:spPr>
            <a:xfrm>
              <a:off x="7585673" y="3280711"/>
              <a:ext cx="42839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Cisplatin</a:t>
              </a:r>
            </a:p>
          </p:txBody>
        </p:sp>
        <p:sp>
          <p:nvSpPr>
            <p:cNvPr id="59" name="tx59"/>
            <p:cNvSpPr/>
            <p:nvPr/>
          </p:nvSpPr>
          <p:spPr>
            <a:xfrm>
              <a:off x="7585673" y="3500167"/>
              <a:ext cx="652241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Methotrexate</a:t>
              </a:r>
            </a:p>
          </p:txBody>
        </p:sp>
        <p:sp>
          <p:nvSpPr>
            <p:cNvPr id="60" name="tx60"/>
            <p:cNvSpPr/>
            <p:nvPr/>
          </p:nvSpPr>
          <p:spPr>
            <a:xfrm>
              <a:off x="7585673" y="3719623"/>
              <a:ext cx="515721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Melphalan</a:t>
              </a:r>
            </a:p>
          </p:txBody>
        </p:sp>
        <p:sp>
          <p:nvSpPr>
            <p:cNvPr id="61" name="tx61"/>
            <p:cNvSpPr/>
            <p:nvPr/>
          </p:nvSpPr>
          <p:spPr>
            <a:xfrm>
              <a:off x="879697" y="1166869"/>
              <a:ext cx="1467429" cy="1005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ClCr · Cockcroft-Gault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457200" y="1097280"/>
            <a:ext cx="8229600" cy="4700016"/>
            <a:chOff x="457200" y="1097280"/>
            <a:chExt cx="8229600" cy="4700016"/>
          </a:xfrm>
        </p:grpSpPr>
        <p:sp>
          <p:nvSpPr>
            <p:cNvPr id="3" name="rc3"/>
            <p:cNvSpPr/>
            <p:nvPr/>
          </p:nvSpPr>
          <p:spPr>
            <a:xfrm>
              <a:off x="457200" y="1097280"/>
              <a:ext cx="8229600" cy="47000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79697" y="4740989"/>
              <a:ext cx="6208163" cy="0"/>
            </a:xfrm>
            <a:custGeom>
              <a:avLst/>
              <a:pathLst>
                <a:path w="6208163" h="0">
                  <a:moveTo>
                    <a:pt x="0" y="0"/>
                  </a:moveTo>
                  <a:lnTo>
                    <a:pt x="6208163" y="0"/>
                  </a:lnTo>
                  <a:lnTo>
                    <a:pt x="620816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79697" y="4030875"/>
              <a:ext cx="6208163" cy="0"/>
            </a:xfrm>
            <a:custGeom>
              <a:avLst/>
              <a:pathLst>
                <a:path w="6208163" h="0">
                  <a:moveTo>
                    <a:pt x="0" y="0"/>
                  </a:moveTo>
                  <a:lnTo>
                    <a:pt x="6208163" y="0"/>
                  </a:lnTo>
                  <a:lnTo>
                    <a:pt x="620816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79697" y="3320761"/>
              <a:ext cx="6208163" cy="0"/>
            </a:xfrm>
            <a:custGeom>
              <a:avLst/>
              <a:pathLst>
                <a:path w="6208163" h="0">
                  <a:moveTo>
                    <a:pt x="0" y="0"/>
                  </a:moveTo>
                  <a:lnTo>
                    <a:pt x="6208163" y="0"/>
                  </a:lnTo>
                  <a:lnTo>
                    <a:pt x="620816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79697" y="2610648"/>
              <a:ext cx="6208163" cy="0"/>
            </a:xfrm>
            <a:custGeom>
              <a:avLst/>
              <a:pathLst>
                <a:path w="6208163" h="0">
                  <a:moveTo>
                    <a:pt x="0" y="0"/>
                  </a:moveTo>
                  <a:lnTo>
                    <a:pt x="6208163" y="0"/>
                  </a:lnTo>
                  <a:lnTo>
                    <a:pt x="620816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879697" y="1900534"/>
              <a:ext cx="6208163" cy="0"/>
            </a:xfrm>
            <a:custGeom>
              <a:avLst/>
              <a:pathLst>
                <a:path w="6208163" h="0">
                  <a:moveTo>
                    <a:pt x="0" y="0"/>
                  </a:moveTo>
                  <a:lnTo>
                    <a:pt x="6208163" y="0"/>
                  </a:lnTo>
                  <a:lnTo>
                    <a:pt x="620816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002906" y="1367948"/>
              <a:ext cx="0" cy="3905626"/>
            </a:xfrm>
            <a:custGeom>
              <a:avLst/>
              <a:pathLst>
                <a:path w="0" h="3905626">
                  <a:moveTo>
                    <a:pt x="0" y="39056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990154" y="1367948"/>
              <a:ext cx="0" cy="3905626"/>
            </a:xfrm>
            <a:custGeom>
              <a:avLst/>
              <a:pathLst>
                <a:path w="0" h="3905626">
                  <a:moveTo>
                    <a:pt x="0" y="39056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977403" y="1367948"/>
              <a:ext cx="0" cy="3905626"/>
            </a:xfrm>
            <a:custGeom>
              <a:avLst/>
              <a:pathLst>
                <a:path w="0" h="3905626">
                  <a:moveTo>
                    <a:pt x="0" y="39056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6964651" y="1367948"/>
              <a:ext cx="0" cy="3905626"/>
            </a:xfrm>
            <a:custGeom>
              <a:avLst/>
              <a:pathLst>
                <a:path w="0" h="3905626">
                  <a:moveTo>
                    <a:pt x="0" y="39056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79697" y="5096046"/>
              <a:ext cx="6208163" cy="0"/>
            </a:xfrm>
            <a:custGeom>
              <a:avLst/>
              <a:pathLst>
                <a:path w="6208163" h="0">
                  <a:moveTo>
                    <a:pt x="0" y="0"/>
                  </a:moveTo>
                  <a:lnTo>
                    <a:pt x="6208163" y="0"/>
                  </a:lnTo>
                  <a:lnTo>
                    <a:pt x="620816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79697" y="4385932"/>
              <a:ext cx="6208163" cy="0"/>
            </a:xfrm>
            <a:custGeom>
              <a:avLst/>
              <a:pathLst>
                <a:path w="6208163" h="0">
                  <a:moveTo>
                    <a:pt x="0" y="0"/>
                  </a:moveTo>
                  <a:lnTo>
                    <a:pt x="6208163" y="0"/>
                  </a:lnTo>
                  <a:lnTo>
                    <a:pt x="620816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79697" y="3675818"/>
              <a:ext cx="6208163" cy="0"/>
            </a:xfrm>
            <a:custGeom>
              <a:avLst/>
              <a:pathLst>
                <a:path w="6208163" h="0">
                  <a:moveTo>
                    <a:pt x="0" y="0"/>
                  </a:moveTo>
                  <a:lnTo>
                    <a:pt x="6208163" y="0"/>
                  </a:lnTo>
                  <a:lnTo>
                    <a:pt x="620816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79697" y="2965704"/>
              <a:ext cx="6208163" cy="0"/>
            </a:xfrm>
            <a:custGeom>
              <a:avLst/>
              <a:pathLst>
                <a:path w="6208163" h="0">
                  <a:moveTo>
                    <a:pt x="0" y="0"/>
                  </a:moveTo>
                  <a:lnTo>
                    <a:pt x="6208163" y="0"/>
                  </a:lnTo>
                  <a:lnTo>
                    <a:pt x="620816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79697" y="2255591"/>
              <a:ext cx="6208163" cy="0"/>
            </a:xfrm>
            <a:custGeom>
              <a:avLst/>
              <a:pathLst>
                <a:path w="6208163" h="0">
                  <a:moveTo>
                    <a:pt x="0" y="0"/>
                  </a:moveTo>
                  <a:lnTo>
                    <a:pt x="6208163" y="0"/>
                  </a:lnTo>
                  <a:lnTo>
                    <a:pt x="620816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79697" y="1545477"/>
              <a:ext cx="6208163" cy="0"/>
            </a:xfrm>
            <a:custGeom>
              <a:avLst/>
              <a:pathLst>
                <a:path w="6208163" h="0">
                  <a:moveTo>
                    <a:pt x="0" y="0"/>
                  </a:moveTo>
                  <a:lnTo>
                    <a:pt x="6208163" y="0"/>
                  </a:lnTo>
                  <a:lnTo>
                    <a:pt x="620816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1996530" y="1367948"/>
              <a:ext cx="0" cy="3905626"/>
            </a:xfrm>
            <a:custGeom>
              <a:avLst/>
              <a:pathLst>
                <a:path w="0" h="3905626">
                  <a:moveTo>
                    <a:pt x="0" y="39056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3983779" y="1367948"/>
              <a:ext cx="0" cy="3905626"/>
            </a:xfrm>
            <a:custGeom>
              <a:avLst/>
              <a:pathLst>
                <a:path w="0" h="3905626">
                  <a:moveTo>
                    <a:pt x="0" y="39056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5971027" y="1367948"/>
              <a:ext cx="0" cy="3905626"/>
            </a:xfrm>
            <a:custGeom>
              <a:avLst/>
              <a:pathLst>
                <a:path w="0" h="3905626">
                  <a:moveTo>
                    <a:pt x="0" y="39056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1161886" y="4794785"/>
              <a:ext cx="317959" cy="301260"/>
            </a:xfrm>
            <a:prstGeom prst="rect">
              <a:avLst/>
            </a:prstGeom>
            <a:solidFill>
              <a:srgbClr val="F8766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1499718" y="4794785"/>
              <a:ext cx="317959" cy="301260"/>
            </a:xfrm>
            <a:prstGeom prst="rect">
              <a:avLst/>
            </a:prstGeom>
            <a:solidFill>
              <a:srgbClr val="E76BF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1837550" y="4751748"/>
              <a:ext cx="317959" cy="344297"/>
            </a:xfrm>
            <a:prstGeom prst="rect">
              <a:avLst/>
            </a:prstGeom>
            <a:solidFill>
              <a:srgbClr val="00B0F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2175382" y="4708711"/>
              <a:ext cx="317959" cy="387334"/>
            </a:xfrm>
            <a:prstGeom prst="rect">
              <a:avLst/>
            </a:prstGeom>
            <a:solidFill>
              <a:srgbClr val="00BF7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2513215" y="4364413"/>
              <a:ext cx="317959" cy="731632"/>
            </a:xfrm>
            <a:prstGeom prst="rect">
              <a:avLst/>
            </a:prstGeom>
            <a:solidFill>
              <a:srgbClr val="A3A5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3149134" y="4621129"/>
              <a:ext cx="317959" cy="474916"/>
            </a:xfrm>
            <a:prstGeom prst="rect">
              <a:avLst/>
            </a:prstGeom>
            <a:solidFill>
              <a:srgbClr val="F8766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3486966" y="4327133"/>
              <a:ext cx="317959" cy="768913"/>
            </a:xfrm>
            <a:prstGeom prst="rect">
              <a:avLst/>
            </a:prstGeom>
            <a:solidFill>
              <a:srgbClr val="E76BF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3824799" y="4168827"/>
              <a:ext cx="317959" cy="927218"/>
            </a:xfrm>
            <a:prstGeom prst="rect">
              <a:avLst/>
            </a:prstGeom>
            <a:solidFill>
              <a:srgbClr val="A3A5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4162631" y="4078367"/>
              <a:ext cx="317959" cy="1017679"/>
            </a:xfrm>
            <a:prstGeom prst="rect">
              <a:avLst/>
            </a:prstGeom>
            <a:solidFill>
              <a:srgbClr val="00B0F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4500463" y="3965291"/>
              <a:ext cx="317959" cy="1130754"/>
            </a:xfrm>
            <a:prstGeom prst="rect">
              <a:avLst/>
            </a:prstGeom>
            <a:solidFill>
              <a:srgbClr val="00BF7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5136383" y="4404785"/>
              <a:ext cx="317959" cy="691261"/>
            </a:xfrm>
            <a:prstGeom prst="rect">
              <a:avLst/>
            </a:prstGeom>
            <a:solidFill>
              <a:srgbClr val="F8766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5474215" y="4216259"/>
              <a:ext cx="317959" cy="879787"/>
            </a:xfrm>
            <a:prstGeom prst="rect">
              <a:avLst/>
            </a:prstGeom>
            <a:solidFill>
              <a:srgbClr val="E76BF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5812047" y="3964891"/>
              <a:ext cx="317959" cy="1131154"/>
            </a:xfrm>
            <a:prstGeom prst="rect">
              <a:avLst/>
            </a:prstGeom>
            <a:solidFill>
              <a:srgbClr val="A3A5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" name="rc35"/>
            <p:cNvSpPr/>
            <p:nvPr/>
          </p:nvSpPr>
          <p:spPr>
            <a:xfrm>
              <a:off x="6149879" y="3462156"/>
              <a:ext cx="317959" cy="1633890"/>
            </a:xfrm>
            <a:prstGeom prst="rect">
              <a:avLst/>
            </a:prstGeom>
            <a:solidFill>
              <a:srgbClr val="00B0F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" name="rc36"/>
            <p:cNvSpPr/>
            <p:nvPr/>
          </p:nvSpPr>
          <p:spPr>
            <a:xfrm>
              <a:off x="6487711" y="3399314"/>
              <a:ext cx="317959" cy="1696732"/>
            </a:xfrm>
            <a:prstGeom prst="rect">
              <a:avLst/>
            </a:prstGeom>
            <a:solidFill>
              <a:srgbClr val="00BF7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" name="tx37"/>
            <p:cNvSpPr/>
            <p:nvPr/>
          </p:nvSpPr>
          <p:spPr>
            <a:xfrm>
              <a:off x="754887" y="505599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692708" y="4345881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692708" y="3635768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92708" y="2925654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692708" y="2215540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692708" y="1505426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1785441" y="5336204"/>
              <a:ext cx="4221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Non-frail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1793076" y="5456905"/>
              <a:ext cx="40690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(N=165)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3788234" y="5336204"/>
              <a:ext cx="39108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Pre-frail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3780325" y="5456905"/>
              <a:ext cx="40690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(N=314)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5862442" y="5336204"/>
              <a:ext cx="217170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Frail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5767573" y="5456905"/>
              <a:ext cx="40690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(N=113)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3459873" y="5596581"/>
              <a:ext cx="1047810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Fried frailty class</a:t>
              </a:r>
            </a:p>
          </p:txBody>
        </p:sp>
        <p:sp>
          <p:nvSpPr>
            <p:cNvPr id="50" name="tx50"/>
            <p:cNvSpPr/>
            <p:nvPr/>
          </p:nvSpPr>
          <p:spPr>
            <a:xfrm rot="-5400000">
              <a:off x="169121" y="3270652"/>
              <a:ext cx="815553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% overdosed</a:t>
              </a:r>
            </a:p>
          </p:txBody>
        </p:sp>
        <p:sp>
          <p:nvSpPr>
            <p:cNvPr id="51" name="rc51"/>
            <p:cNvSpPr/>
            <p:nvPr/>
          </p:nvSpPr>
          <p:spPr>
            <a:xfrm>
              <a:off x="7305628" y="2781121"/>
              <a:ext cx="201455" cy="201456"/>
            </a:xfrm>
            <a:prstGeom prst="rect">
              <a:avLst/>
            </a:prstGeom>
            <a:solidFill>
              <a:srgbClr val="F8766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" name="rc52"/>
            <p:cNvSpPr/>
            <p:nvPr/>
          </p:nvSpPr>
          <p:spPr>
            <a:xfrm>
              <a:off x="7305628" y="3000577"/>
              <a:ext cx="201455" cy="201456"/>
            </a:xfrm>
            <a:prstGeom prst="rect">
              <a:avLst/>
            </a:prstGeom>
            <a:solidFill>
              <a:srgbClr val="A3A5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" name="rc53"/>
            <p:cNvSpPr/>
            <p:nvPr/>
          </p:nvSpPr>
          <p:spPr>
            <a:xfrm>
              <a:off x="7305628" y="3220033"/>
              <a:ext cx="201455" cy="201456"/>
            </a:xfrm>
            <a:prstGeom prst="rect">
              <a:avLst/>
            </a:prstGeom>
            <a:solidFill>
              <a:srgbClr val="00BF7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" name="rc54"/>
            <p:cNvSpPr/>
            <p:nvPr/>
          </p:nvSpPr>
          <p:spPr>
            <a:xfrm>
              <a:off x="7305628" y="3439489"/>
              <a:ext cx="201455" cy="201456"/>
            </a:xfrm>
            <a:prstGeom prst="rect">
              <a:avLst/>
            </a:prstGeom>
            <a:solidFill>
              <a:srgbClr val="00B0F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" name="rc55"/>
            <p:cNvSpPr/>
            <p:nvPr/>
          </p:nvSpPr>
          <p:spPr>
            <a:xfrm>
              <a:off x="7305628" y="3658945"/>
              <a:ext cx="201455" cy="201456"/>
            </a:xfrm>
            <a:prstGeom prst="rect">
              <a:avLst/>
            </a:prstGeom>
            <a:solidFill>
              <a:srgbClr val="E76BF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" name="tx56"/>
            <p:cNvSpPr/>
            <p:nvPr/>
          </p:nvSpPr>
          <p:spPr>
            <a:xfrm>
              <a:off x="7585673" y="2841799"/>
              <a:ext cx="96194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Carboplatin (±20%)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7585673" y="3061255"/>
              <a:ext cx="96194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Carboplatin (±15%)</a:t>
              </a:r>
            </a:p>
          </p:txBody>
        </p:sp>
        <p:sp>
          <p:nvSpPr>
            <p:cNvPr id="58" name="tx58"/>
            <p:cNvSpPr/>
            <p:nvPr/>
          </p:nvSpPr>
          <p:spPr>
            <a:xfrm>
              <a:off x="7585673" y="3280711"/>
              <a:ext cx="42839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Cisplatin</a:t>
              </a:r>
            </a:p>
          </p:txBody>
        </p:sp>
        <p:sp>
          <p:nvSpPr>
            <p:cNvPr id="59" name="tx59"/>
            <p:cNvSpPr/>
            <p:nvPr/>
          </p:nvSpPr>
          <p:spPr>
            <a:xfrm>
              <a:off x="7585673" y="3500167"/>
              <a:ext cx="652241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Methotrexate</a:t>
              </a:r>
            </a:p>
          </p:txBody>
        </p:sp>
        <p:sp>
          <p:nvSpPr>
            <p:cNvPr id="60" name="tx60"/>
            <p:cNvSpPr/>
            <p:nvPr/>
          </p:nvSpPr>
          <p:spPr>
            <a:xfrm>
              <a:off x="7585673" y="3719623"/>
              <a:ext cx="515721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Melphalan</a:t>
              </a:r>
            </a:p>
          </p:txBody>
        </p:sp>
        <p:sp>
          <p:nvSpPr>
            <p:cNvPr id="61" name="tx61"/>
            <p:cNvSpPr/>
            <p:nvPr/>
          </p:nvSpPr>
          <p:spPr>
            <a:xfrm>
              <a:off x="879697" y="1166869"/>
              <a:ext cx="1693103" cy="1005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Panel · CKD-EPI 4-marker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2026-10-16T10:42:13Z</dcterms:modified>
  <cp:category/>
</cp:coreProperties>
</file>