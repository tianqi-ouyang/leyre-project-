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96522" y="52423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96522" y="48586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96522" y="447482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6522" y="40910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96522" y="3707264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96522" y="33234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96522" y="29397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96522" y="25559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96522" y="217213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6522" y="54342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96522" y="50505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96522" y="46667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96522" y="428293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6522" y="3899155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96522" y="3515373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96522" y="31315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96522" y="27478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96522" y="236402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96522" y="19802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96522" y="2984475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101392" y="2984475"/>
              <a:ext cx="614611" cy="2449806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31872" y="277561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08698" y="2775617"/>
              <a:ext cx="0" cy="410890"/>
            </a:xfrm>
            <a:custGeom>
              <a:avLst/>
              <a:pathLst>
                <a:path w="0" h="410890">
                  <a:moveTo>
                    <a:pt x="0" y="0"/>
                  </a:moveTo>
                  <a:lnTo>
                    <a:pt x="0" y="41089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31872" y="318650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990464" y="52423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990464" y="48586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90464" y="447482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90464" y="40910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90464" y="3707264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90464" y="33234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90464" y="29397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990464" y="25559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990464" y="217213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990464" y="54342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990464" y="50505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990464" y="46667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990464" y="428293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990464" y="3899155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990464" y="3515373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90464" y="31315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90464" y="27478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990464" y="236402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90464" y="19802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90464" y="2984475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902589" y="3056873"/>
              <a:ext cx="614611" cy="2377409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195334" y="3387446"/>
              <a:ext cx="614611" cy="2046836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048962" y="3356482"/>
              <a:ext cx="614611" cy="2077799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3069" y="2336348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209895" y="2336348"/>
              <a:ext cx="0" cy="1362282"/>
            </a:xfrm>
            <a:custGeom>
              <a:avLst/>
              <a:pathLst>
                <a:path w="0" h="1362282">
                  <a:moveTo>
                    <a:pt x="0" y="0"/>
                  </a:moveTo>
                  <a:lnTo>
                    <a:pt x="0" y="136228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133069" y="369863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425814" y="2816959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02640" y="2816959"/>
              <a:ext cx="0" cy="1075088"/>
            </a:xfrm>
            <a:custGeom>
              <a:avLst/>
              <a:pathLst>
                <a:path w="0" h="1075088">
                  <a:moveTo>
                    <a:pt x="0" y="0"/>
                  </a:moveTo>
                  <a:lnTo>
                    <a:pt x="0" y="1075088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425814" y="389204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79441" y="295156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6268" y="2951567"/>
              <a:ext cx="0" cy="776172"/>
            </a:xfrm>
            <a:custGeom>
              <a:avLst/>
              <a:pathLst>
                <a:path w="0" h="776172">
                  <a:moveTo>
                    <a:pt x="0" y="0"/>
                  </a:moveTo>
                  <a:lnTo>
                    <a:pt x="0" y="77617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79441" y="3727740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791661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791661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91661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791661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791661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791661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791661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791661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91661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91661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91661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91661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791661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91661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91661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91661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91661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91661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791661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791661" y="298447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850159" y="2921021"/>
              <a:ext cx="614611" cy="2513261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996531" y="2947575"/>
              <a:ext cx="614611" cy="2486706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080638" y="2419326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157464" y="2419326"/>
              <a:ext cx="0" cy="968099"/>
            </a:xfrm>
            <a:custGeom>
              <a:avLst/>
              <a:pathLst>
                <a:path w="0" h="968099">
                  <a:moveTo>
                    <a:pt x="0" y="0"/>
                  </a:moveTo>
                  <a:lnTo>
                    <a:pt x="0" y="968099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80638" y="338742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227011" y="2604232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303837" y="2604232"/>
              <a:ext cx="0" cy="669289"/>
            </a:xfrm>
            <a:custGeom>
              <a:avLst/>
              <a:pathLst>
                <a:path w="0" h="669289">
                  <a:moveTo>
                    <a:pt x="0" y="0"/>
                  </a:moveTo>
                  <a:lnTo>
                    <a:pt x="0" y="669289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227011" y="327352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739230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739230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739230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39230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739230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39230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739230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739230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739230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739230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39230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739230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739230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739230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39230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739230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739230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39230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39230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39230" y="298447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944101" y="2935238"/>
              <a:ext cx="614611" cy="2499044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797728" y="2943513"/>
              <a:ext cx="614611" cy="2490769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174580" y="2557750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251406" y="2557750"/>
              <a:ext cx="0" cy="734304"/>
            </a:xfrm>
            <a:custGeom>
              <a:avLst/>
              <a:pathLst>
                <a:path w="0" h="734304">
                  <a:moveTo>
                    <a:pt x="0" y="0"/>
                  </a:moveTo>
                  <a:lnTo>
                    <a:pt x="0" y="734304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174580" y="329205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28207" y="2513749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05034" y="2513749"/>
              <a:ext cx="0" cy="832782"/>
            </a:xfrm>
            <a:custGeom>
              <a:avLst/>
              <a:pathLst>
                <a:path w="0" h="832782">
                  <a:moveTo>
                    <a:pt x="0" y="0"/>
                  </a:moveTo>
                  <a:lnTo>
                    <a:pt x="0" y="83278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28207" y="334653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1003024" y="1749972"/>
              <a:ext cx="81134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Whole cohort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10304" y="1749972"/>
              <a:ext cx="69192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Fried frailty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451667" y="1749972"/>
              <a:ext cx="55796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082031" y="1749972"/>
              <a:ext cx="119237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ASG-PPP (PG-SGA)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227693" y="5496912"/>
              <a:ext cx="36201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Overall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68897" y="5620356"/>
              <a:ext cx="47960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(N=1200)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286704" y="5496912"/>
              <a:ext cx="4318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294614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56243" y="5496912"/>
              <a:ext cx="4000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48242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98750" y="5496912"/>
              <a:ext cx="2222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001869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989375" y="5496912"/>
              <a:ext cx="62892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 cachexia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095811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19218" y="5496912"/>
              <a:ext cx="47649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4943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908369" y="5496912"/>
              <a:ext cx="68607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Malnourished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043380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(N=387)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23912" y="5496912"/>
              <a:ext cx="7622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Well-nourished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89700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(N=302)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63300" y="5388699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763300" y="5004917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692708" y="462113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692708" y="4237354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692708" y="3853572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692708" y="3469790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92708" y="3086008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92708" y="2702227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692708" y="231844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92708" y="1934663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69121" y="3622614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896522" y="1379836"/>
              <a:ext cx="421072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2021 cr-cys vs measured GFR · absolute mL/min · exact binomial 95% CI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96522" y="1503280"/>
              <a:ext cx="246769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Dashed rule = whole-cohort rate at this threshold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896522" y="1166869"/>
              <a:ext cx="5317967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when dosing by eGFRcr-cys — ≥10% overdose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96522" y="52423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96522" y="48586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96522" y="447482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6522" y="40910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96522" y="3707264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96522" y="33234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96522" y="29397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96522" y="25559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96522" y="217213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6522" y="54342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96522" y="50505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96522" y="46667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96522" y="428293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6522" y="3899155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96522" y="3515373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96522" y="31315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96522" y="27478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96522" y="236402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96522" y="19802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96522" y="3918344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101392" y="3918344"/>
              <a:ext cx="614611" cy="1515938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31872" y="373665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08698" y="3736651"/>
              <a:ext cx="0" cy="351926"/>
            </a:xfrm>
            <a:custGeom>
              <a:avLst/>
              <a:pathLst>
                <a:path w="0" h="351926">
                  <a:moveTo>
                    <a:pt x="0" y="0"/>
                  </a:moveTo>
                  <a:lnTo>
                    <a:pt x="0" y="351926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31872" y="4088578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990464" y="52423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990464" y="48586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90464" y="447482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90464" y="40910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90464" y="3707264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90464" y="33234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90464" y="29397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990464" y="25559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990464" y="217213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990464" y="54342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990464" y="50505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990464" y="46667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990464" y="428293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990464" y="3899155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990464" y="3515373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90464" y="31315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90464" y="27478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990464" y="236402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90464" y="19802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90464" y="3918344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902589" y="3939910"/>
              <a:ext cx="614611" cy="1494371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195334" y="4503902"/>
              <a:ext cx="614611" cy="930380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048962" y="4065379"/>
              <a:ext cx="614611" cy="1368903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3069" y="3286703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209895" y="3286703"/>
              <a:ext cx="0" cy="1178773"/>
            </a:xfrm>
            <a:custGeom>
              <a:avLst/>
              <a:pathLst>
                <a:path w="0" h="1178773">
                  <a:moveTo>
                    <a:pt x="0" y="0"/>
                  </a:moveTo>
                  <a:lnTo>
                    <a:pt x="0" y="1178773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133069" y="446547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425814" y="404514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02640" y="4045147"/>
              <a:ext cx="0" cy="808587"/>
            </a:xfrm>
            <a:custGeom>
              <a:avLst/>
              <a:pathLst>
                <a:path w="0" h="808587">
                  <a:moveTo>
                    <a:pt x="0" y="0"/>
                  </a:moveTo>
                  <a:lnTo>
                    <a:pt x="0" y="808587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425814" y="4853734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79441" y="3705300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6268" y="3705300"/>
              <a:ext cx="0" cy="672644"/>
            </a:xfrm>
            <a:custGeom>
              <a:avLst/>
              <a:pathLst>
                <a:path w="0" h="672644">
                  <a:moveTo>
                    <a:pt x="0" y="0"/>
                  </a:moveTo>
                  <a:lnTo>
                    <a:pt x="0" y="672644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79441" y="437794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791661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791661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91661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791661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791661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791661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791661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791661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91661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91661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91661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91661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791661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91661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91661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91661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91661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91661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791661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791661" y="391834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850159" y="3973873"/>
              <a:ext cx="614611" cy="1460408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996531" y="3875945"/>
              <a:ext cx="614611" cy="1558336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080638" y="3533782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157464" y="3533782"/>
              <a:ext cx="0" cy="816304"/>
            </a:xfrm>
            <a:custGeom>
              <a:avLst/>
              <a:pathLst>
                <a:path w="0" h="816304">
                  <a:moveTo>
                    <a:pt x="0" y="0"/>
                  </a:moveTo>
                  <a:lnTo>
                    <a:pt x="0" y="816304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80638" y="435008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227011" y="3572243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303837" y="3572243"/>
              <a:ext cx="0" cy="577902"/>
            </a:xfrm>
            <a:custGeom>
              <a:avLst/>
              <a:pathLst>
                <a:path w="0" h="577902">
                  <a:moveTo>
                    <a:pt x="0" y="0"/>
                  </a:moveTo>
                  <a:lnTo>
                    <a:pt x="0" y="57790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227011" y="4150146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739230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739230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739230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39230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739230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39230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739230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739230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739230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739230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39230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739230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739230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739230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39230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739230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739230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39230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39230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39230" y="391834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944101" y="4065758"/>
              <a:ext cx="614611" cy="1368524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797728" y="3705993"/>
              <a:ext cx="614611" cy="1728288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174580" y="3744568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251406" y="3744568"/>
              <a:ext cx="0" cy="603962"/>
            </a:xfrm>
            <a:custGeom>
              <a:avLst/>
              <a:pathLst>
                <a:path w="0" h="603962">
                  <a:moveTo>
                    <a:pt x="0" y="0"/>
                  </a:moveTo>
                  <a:lnTo>
                    <a:pt x="0" y="60396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174580" y="434853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28207" y="331189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05034" y="3311891"/>
              <a:ext cx="0" cy="746126"/>
            </a:xfrm>
            <a:custGeom>
              <a:avLst/>
              <a:pathLst>
                <a:path w="0" h="746126">
                  <a:moveTo>
                    <a:pt x="0" y="0"/>
                  </a:moveTo>
                  <a:lnTo>
                    <a:pt x="0" y="746126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28207" y="4058018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1003024" y="1749972"/>
              <a:ext cx="81134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Whole cohort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10304" y="1749972"/>
              <a:ext cx="69192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Fried frailty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451667" y="1749972"/>
              <a:ext cx="55796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082031" y="1749972"/>
              <a:ext cx="119237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ASG-PPP (PG-SGA)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227693" y="5496912"/>
              <a:ext cx="36201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Overall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68897" y="5620356"/>
              <a:ext cx="47960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(N=1200)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286704" y="5496912"/>
              <a:ext cx="4318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294614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56243" y="5496912"/>
              <a:ext cx="4000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48242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98750" y="5496912"/>
              <a:ext cx="2222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001869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989375" y="5496912"/>
              <a:ext cx="62892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 cachexia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095811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19218" y="5496912"/>
              <a:ext cx="47649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4943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908369" y="5496912"/>
              <a:ext cx="68607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Malnourished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043380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(N=387)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23912" y="5496912"/>
              <a:ext cx="7622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Well-nourished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89700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(N=302)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63300" y="5388699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763300" y="5004917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692708" y="462113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692708" y="4237354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692708" y="3853572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692708" y="3469790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92708" y="3086008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92708" y="2702227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692708" y="231844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92708" y="1934663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69121" y="3622614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896522" y="1379836"/>
              <a:ext cx="421072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2021 cr-cys vs measured GFR · absolute mL/min · exact binomial 95% CI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96522" y="1503280"/>
              <a:ext cx="246769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Dashed rule = whole-cohort rate at this threshold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896522" y="1166869"/>
              <a:ext cx="5317967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when dosing by eGFRcr-cys — ≥15% overdose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96522" y="52423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96522" y="48586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96522" y="447482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96522" y="40910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96522" y="3707264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96522" y="33234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96522" y="29397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96522" y="25559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96522" y="2172137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6522" y="5434282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96522" y="5050500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96522" y="466671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96522" y="428293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6522" y="3899155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96522" y="3515373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96522" y="3131591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96522" y="2747809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96522" y="2364028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96522" y="1980246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96522" y="4532395"/>
              <a:ext cx="1024352" cy="0"/>
            </a:xfrm>
            <a:custGeom>
              <a:avLst/>
              <a:pathLst>
                <a:path w="1024352" h="0">
                  <a:moveTo>
                    <a:pt x="0" y="0"/>
                  </a:moveTo>
                  <a:lnTo>
                    <a:pt x="1024352" y="0"/>
                  </a:lnTo>
                  <a:lnTo>
                    <a:pt x="1024352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101392" y="4532395"/>
              <a:ext cx="614611" cy="901887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31872" y="4382109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08698" y="4382109"/>
              <a:ext cx="0" cy="286002"/>
            </a:xfrm>
            <a:custGeom>
              <a:avLst/>
              <a:pathLst>
                <a:path w="0" h="286002">
                  <a:moveTo>
                    <a:pt x="0" y="0"/>
                  </a:moveTo>
                  <a:lnTo>
                    <a:pt x="0" y="286002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31872" y="466811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990464" y="52423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990464" y="48586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90464" y="447482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90464" y="40910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90464" y="3707264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90464" y="33234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990464" y="29397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990464" y="25559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990464" y="2172137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990464" y="5434282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990464" y="5050500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990464" y="466671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990464" y="428293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990464" y="3899155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990464" y="3515373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90464" y="3131591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90464" y="2747809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990464" y="2364028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90464" y="1980246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90464" y="4532395"/>
              <a:ext cx="2731607" cy="0"/>
            </a:xfrm>
            <a:custGeom>
              <a:avLst/>
              <a:pathLst>
                <a:path w="2731607" h="0">
                  <a:moveTo>
                    <a:pt x="0" y="0"/>
                  </a:moveTo>
                  <a:lnTo>
                    <a:pt x="2731607" y="0"/>
                  </a:lnTo>
                  <a:lnTo>
                    <a:pt x="2731607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902589" y="4755022"/>
              <a:ext cx="614611" cy="679259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195334" y="4829535"/>
              <a:ext cx="614611" cy="604747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048962" y="4700941"/>
              <a:ext cx="614611" cy="733340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3069" y="423129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209895" y="4231291"/>
              <a:ext cx="0" cy="870973"/>
            </a:xfrm>
            <a:custGeom>
              <a:avLst/>
              <a:pathLst>
                <a:path w="0" h="870973">
                  <a:moveTo>
                    <a:pt x="0" y="0"/>
                  </a:moveTo>
                  <a:lnTo>
                    <a:pt x="0" y="870973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133069" y="510226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425814" y="442907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02640" y="4429071"/>
              <a:ext cx="0" cy="678094"/>
            </a:xfrm>
            <a:custGeom>
              <a:avLst/>
              <a:pathLst>
                <a:path w="0" h="678094">
                  <a:moveTo>
                    <a:pt x="0" y="0"/>
                  </a:moveTo>
                  <a:lnTo>
                    <a:pt x="0" y="678094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425814" y="510716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79441" y="4408982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356268" y="4408982"/>
              <a:ext cx="0" cy="523368"/>
            </a:xfrm>
            <a:custGeom>
              <a:avLst/>
              <a:pathLst>
                <a:path w="0" h="523368">
                  <a:moveTo>
                    <a:pt x="0" y="0"/>
                  </a:moveTo>
                  <a:lnTo>
                    <a:pt x="0" y="523368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79441" y="4932351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791661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791661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791661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791661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791661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791661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791661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791661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791661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791661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91661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91661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791661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91661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91661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91661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91661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91661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791661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791661" y="453239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850159" y="4483318"/>
              <a:ext cx="614611" cy="950963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996531" y="4439599"/>
              <a:ext cx="614611" cy="994682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080638" y="4098242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157464" y="4098242"/>
              <a:ext cx="0" cy="691835"/>
            </a:xfrm>
            <a:custGeom>
              <a:avLst/>
              <a:pathLst>
                <a:path w="0" h="691835">
                  <a:moveTo>
                    <a:pt x="0" y="0"/>
                  </a:moveTo>
                  <a:lnTo>
                    <a:pt x="0" y="691835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80638" y="4790078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227011" y="4178236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303837" y="4178236"/>
              <a:ext cx="0" cy="485667"/>
            </a:xfrm>
            <a:custGeom>
              <a:avLst/>
              <a:pathLst>
                <a:path w="0" h="485667">
                  <a:moveTo>
                    <a:pt x="0" y="0"/>
                  </a:moveTo>
                  <a:lnTo>
                    <a:pt x="0" y="485667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227011" y="4663904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739230" y="52423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739230" y="48586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739230" y="447482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739230" y="40910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739230" y="3707264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39230" y="33234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739230" y="29397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739230" y="25559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739230" y="2172137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739230" y="5434282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39230" y="5050500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739230" y="466671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739230" y="428293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739230" y="389915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739230" y="3515373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739230" y="3131591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739230" y="2747809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39230" y="2364028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39230" y="1980246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39230" y="4532395"/>
              <a:ext cx="1877980" cy="0"/>
            </a:xfrm>
            <a:custGeom>
              <a:avLst/>
              <a:pathLst>
                <a:path w="1877980" h="0">
                  <a:moveTo>
                    <a:pt x="0" y="0"/>
                  </a:moveTo>
                  <a:lnTo>
                    <a:pt x="1877980" y="0"/>
                  </a:lnTo>
                  <a:lnTo>
                    <a:pt x="1877980" y="0"/>
                  </a:lnTo>
                </a:path>
              </a:pathLst>
            </a:custGeom>
            <a:ln w="10840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944101" y="4621101"/>
              <a:ext cx="614611" cy="813181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797728" y="4239729"/>
              <a:ext cx="614611" cy="1194552"/>
            </a:xfrm>
            <a:prstGeom prst="rect">
              <a:avLst/>
            </a:prstGeom>
            <a:solidFill>
              <a:srgbClr val="D9480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7174580" y="4352232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251406" y="4352232"/>
              <a:ext cx="0" cy="490213"/>
            </a:xfrm>
            <a:custGeom>
              <a:avLst/>
              <a:pathLst>
                <a:path w="0" h="490213">
                  <a:moveTo>
                    <a:pt x="0" y="0"/>
                  </a:moveTo>
                  <a:lnTo>
                    <a:pt x="0" y="490213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7174580" y="4842445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28207" y="3887450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05034" y="3887450"/>
              <a:ext cx="0" cy="651496"/>
            </a:xfrm>
            <a:custGeom>
              <a:avLst/>
              <a:pathLst>
                <a:path w="0" h="651496">
                  <a:moveTo>
                    <a:pt x="0" y="0"/>
                  </a:moveTo>
                  <a:lnTo>
                    <a:pt x="0" y="651496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28207" y="4538947"/>
              <a:ext cx="153652" cy="0"/>
            </a:xfrm>
            <a:custGeom>
              <a:avLst/>
              <a:pathLst>
                <a:path w="153652" h="0">
                  <a:moveTo>
                    <a:pt x="0" y="0"/>
                  </a:moveTo>
                  <a:lnTo>
                    <a:pt x="153652" y="0"/>
                  </a:lnTo>
                </a:path>
              </a:pathLst>
            </a:custGeom>
            <a:ln w="10840" cap="flat">
              <a:solidFill>
                <a:srgbClr val="4040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1003024" y="1749972"/>
              <a:ext cx="81134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Whole cohort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010304" y="1749972"/>
              <a:ext cx="69192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Fried frailty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451667" y="1749972"/>
              <a:ext cx="557966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082031" y="1749972"/>
              <a:ext cx="1192377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ASG-PPP (PG-SGA)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227693" y="5496912"/>
              <a:ext cx="36201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Overall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68897" y="5620356"/>
              <a:ext cx="47960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(N=1200)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286704" y="5496912"/>
              <a:ext cx="4318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294614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56243" y="5496912"/>
              <a:ext cx="4000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48242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098750" y="5496912"/>
              <a:ext cx="2222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001869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4989375" y="5496912"/>
              <a:ext cx="62892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 cachexia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095811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(N=463)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19218" y="5496912"/>
              <a:ext cx="47649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Cachexia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4943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(N=226)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908369" y="5496912"/>
              <a:ext cx="68607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Malnourished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043380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(N=387)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23912" y="5496912"/>
              <a:ext cx="76224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Well-nourished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897008" y="5620356"/>
              <a:ext cx="41605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(N=302)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63300" y="5388699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763300" y="5004917"/>
              <a:ext cx="7059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692708" y="462113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692708" y="4237354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692708" y="3853572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692708" y="3469790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92708" y="3086008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92708" y="2702227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692708" y="2318445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92708" y="1934663"/>
              <a:ext cx="141183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146" name="tx146"/>
            <p:cNvSpPr/>
            <p:nvPr/>
          </p:nvSpPr>
          <p:spPr>
            <a:xfrm rot="-5400000">
              <a:off x="169121" y="3622614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896522" y="1379836"/>
              <a:ext cx="421072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2021 cr-cys vs measured GFR · absolute mL/min · exact binomial 95% CI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96522" y="1503280"/>
              <a:ext cx="246769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Dashed rule = whole-cohort rate at this threshold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896522" y="1166869"/>
              <a:ext cx="5317967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when dosing by eGFRcr-cys — ≥20% overdose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2026-09-08T18:07:21Z</dcterms:modified>
  <cp:category/>
</cp:coreProperties>
</file>