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9deaca43e4abc8c49958eb02b7dc1848154fdf05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4620157" y="1938646"/>
              <a:ext cx="2477877" cy="432381"/>
            </a:xfrm>
            <a:prstGeom prst="rect">
              <a:avLst/>
            </a:prstGeom>
            <a:solidFill>
              <a:srgbClr val="F1D0CD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4620157" y="4965315"/>
              <a:ext cx="2477877" cy="432381"/>
            </a:xfrm>
            <a:prstGeom prst="rect">
              <a:avLst/>
            </a:prstGeom>
            <a:solidFill>
              <a:srgbClr val="EFC7C3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4620157" y="2371027"/>
              <a:ext cx="2477877" cy="432381"/>
            </a:xfrm>
            <a:prstGeom prst="rect">
              <a:avLst/>
            </a:prstGeom>
            <a:solidFill>
              <a:srgbClr val="DC857F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4620157" y="3235790"/>
              <a:ext cx="2477877" cy="432381"/>
            </a:xfrm>
            <a:prstGeom prst="rect">
              <a:avLst/>
            </a:prstGeom>
            <a:solidFill>
              <a:srgbClr val="F1D0CD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4620157" y="2803409"/>
              <a:ext cx="2477877" cy="432381"/>
            </a:xfrm>
            <a:prstGeom prst="rect">
              <a:avLst/>
            </a:prstGeom>
            <a:solidFill>
              <a:srgbClr val="819AC9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4620157" y="3668171"/>
              <a:ext cx="2477877" cy="432381"/>
            </a:xfrm>
            <a:prstGeom prst="rect">
              <a:avLst/>
            </a:prstGeom>
            <a:solidFill>
              <a:srgbClr val="F2D3D0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4620157" y="4532934"/>
              <a:ext cx="2477877" cy="432381"/>
            </a:xfrm>
            <a:prstGeom prst="rect">
              <a:avLst/>
            </a:prstGeom>
            <a:solidFill>
              <a:srgbClr val="F6EFEE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4620157" y="4100553"/>
              <a:ext cx="2477877" cy="432381"/>
            </a:xfrm>
            <a:prstGeom prst="rect">
              <a:avLst/>
            </a:prstGeom>
            <a:solidFill>
              <a:srgbClr val="B9C4DE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2142279" y="1938646"/>
              <a:ext cx="2477877" cy="432381"/>
            </a:xfrm>
            <a:prstGeom prst="rect">
              <a:avLst/>
            </a:prstGeom>
            <a:solidFill>
              <a:srgbClr val="BE3C3F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2142279" y="4965315"/>
              <a:ext cx="2477877" cy="432381"/>
            </a:xfrm>
            <a:prstGeom prst="rect">
              <a:avLst/>
            </a:prstGeom>
            <a:solidFill>
              <a:srgbClr val="F5E4E2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2142279" y="2371027"/>
              <a:ext cx="2477877" cy="432381"/>
            </a:xfrm>
            <a:prstGeom prst="rect">
              <a:avLst/>
            </a:prstGeom>
            <a:solidFill>
              <a:srgbClr val="B2182B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2142279" y="3235790"/>
              <a:ext cx="2477877" cy="432381"/>
            </a:xfrm>
            <a:prstGeom prst="rect">
              <a:avLst/>
            </a:prstGeom>
            <a:solidFill>
              <a:srgbClr val="DF8E88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2142279" y="2803409"/>
              <a:ext cx="2477877" cy="432381"/>
            </a:xfrm>
            <a:prstGeom prst="rect">
              <a:avLst/>
            </a:prstGeom>
            <a:solidFill>
              <a:srgbClr val="D2D8E8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2142279" y="3668171"/>
              <a:ext cx="2477877" cy="432381"/>
            </a:xfrm>
            <a:prstGeom prst="rect">
              <a:avLst/>
            </a:prstGeom>
            <a:solidFill>
              <a:srgbClr val="F5E4E2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2142279" y="4532934"/>
              <a:ext cx="2477877" cy="432381"/>
            </a:xfrm>
            <a:prstGeom prst="rect">
              <a:avLst/>
            </a:prstGeom>
            <a:solidFill>
              <a:srgbClr val="D9DEEB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2142279" y="4100553"/>
              <a:ext cx="2477877" cy="432381"/>
            </a:xfrm>
            <a:prstGeom prst="rect">
              <a:avLst/>
            </a:prstGeom>
            <a:solidFill>
              <a:srgbClr val="C1CBE2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tx20"/>
            <p:cNvSpPr/>
            <p:nvPr/>
          </p:nvSpPr>
          <p:spPr>
            <a:xfrm>
              <a:off x="5746442" y="2057436"/>
              <a:ext cx="225308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↑7%</a:t>
              </a:r>
            </a:p>
          </p:txBody>
        </p:sp>
        <p:sp>
          <p:nvSpPr>
            <p:cNvPr id="21" name="tx21"/>
            <p:cNvSpPr/>
            <p:nvPr/>
          </p:nvSpPr>
          <p:spPr>
            <a:xfrm>
              <a:off x="5746442" y="2174514"/>
              <a:ext cx="225308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↓4%</a:t>
              </a:r>
            </a:p>
          </p:txBody>
        </p:sp>
        <p:sp>
          <p:nvSpPr>
            <p:cNvPr id="22" name="tx22"/>
            <p:cNvSpPr/>
            <p:nvPr/>
          </p:nvSpPr>
          <p:spPr>
            <a:xfrm>
              <a:off x="5746442" y="5084105"/>
              <a:ext cx="225308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↑6%</a:t>
              </a:r>
            </a:p>
          </p:txBody>
        </p:sp>
        <p:sp>
          <p:nvSpPr>
            <p:cNvPr id="23" name="tx23"/>
            <p:cNvSpPr/>
            <p:nvPr/>
          </p:nvSpPr>
          <p:spPr>
            <a:xfrm>
              <a:off x="5746442" y="5201183"/>
              <a:ext cx="225308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↓2%</a:t>
              </a:r>
            </a:p>
          </p:txBody>
        </p:sp>
        <p:sp>
          <p:nvSpPr>
            <p:cNvPr id="24" name="tx24"/>
            <p:cNvSpPr/>
            <p:nvPr/>
          </p:nvSpPr>
          <p:spPr>
            <a:xfrm>
              <a:off x="5716313" y="2489817"/>
              <a:ext cx="285567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↑10%</a:t>
              </a:r>
            </a:p>
          </p:txBody>
        </p:sp>
        <p:sp>
          <p:nvSpPr>
            <p:cNvPr id="25" name="tx25"/>
            <p:cNvSpPr/>
            <p:nvPr/>
          </p:nvSpPr>
          <p:spPr>
            <a:xfrm>
              <a:off x="5746442" y="2606895"/>
              <a:ext cx="225308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↓1%</a:t>
              </a:r>
            </a:p>
          </p:txBody>
        </p:sp>
        <p:sp>
          <p:nvSpPr>
            <p:cNvPr id="26" name="tx26"/>
            <p:cNvSpPr/>
            <p:nvPr/>
          </p:nvSpPr>
          <p:spPr>
            <a:xfrm>
              <a:off x="5746442" y="3354580"/>
              <a:ext cx="225308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↑6%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5746442" y="3471657"/>
              <a:ext cx="225308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↓3%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5746442" y="2922199"/>
              <a:ext cx="225308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↑2%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5716313" y="3039276"/>
              <a:ext cx="285567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↓13%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5746442" y="3786961"/>
              <a:ext cx="225308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↑6%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5746442" y="3904039"/>
              <a:ext cx="225308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↓4%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5746442" y="4651724"/>
              <a:ext cx="225308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↑5%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5746442" y="4768801"/>
              <a:ext cx="225308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↓4%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5746442" y="4219343"/>
              <a:ext cx="225308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↑3%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5746442" y="4336420"/>
              <a:ext cx="225308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↓8%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3238435" y="2057436"/>
              <a:ext cx="285567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↑19%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3268564" y="2174514"/>
              <a:ext cx="225308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↓4%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3268564" y="5084105"/>
              <a:ext cx="225308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↑9%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3268564" y="5201183"/>
              <a:ext cx="225308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↓7%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3238435" y="2489817"/>
              <a:ext cx="285567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↑19%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3268564" y="2606895"/>
              <a:ext cx="225308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↓3%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3238435" y="3354580"/>
              <a:ext cx="285567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↑13%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3268564" y="3471657"/>
              <a:ext cx="225308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↓4%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3268564" y="2922199"/>
              <a:ext cx="225308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↑8%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3238435" y="3039276"/>
              <a:ext cx="285567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↓11%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238435" y="3786961"/>
              <a:ext cx="285567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↑10%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3268564" y="3904039"/>
              <a:ext cx="225308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↓8%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3268564" y="4651724"/>
              <a:ext cx="225308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↑6%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3268564" y="4768801"/>
              <a:ext cx="225308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↓9%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3268564" y="4219343"/>
              <a:ext cx="225308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↑6%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3238435" y="4336420"/>
              <a:ext cx="285567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↓11%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810635" y="5137798"/>
              <a:ext cx="1015532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CKD-EPI 4-marker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1088430" y="4705416"/>
              <a:ext cx="737737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EKFC Cr-Cys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1257594" y="4273035"/>
              <a:ext cx="568573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EKFC Cys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1338793" y="3840654"/>
              <a:ext cx="487375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EKFC Cr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533115" y="3408272"/>
              <a:ext cx="1293053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CKD-EPI Cr-Cys (2021)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1088338" y="2975891"/>
              <a:ext cx="737829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CKD-EPI Cys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783478" y="2543510"/>
              <a:ext cx="1042690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CKD-EPI Cr (2021)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979982" y="2111129"/>
              <a:ext cx="846185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Cockcroft-Gault</a:t>
              </a:r>
            </a:p>
          </p:txBody>
        </p:sp>
        <p:sp>
          <p:nvSpPr>
            <p:cNvPr id="60" name="tx60"/>
            <p:cNvSpPr/>
            <p:nvPr/>
          </p:nvSpPr>
          <p:spPr>
            <a:xfrm rot="-1200000">
              <a:off x="2706570" y="5628217"/>
              <a:ext cx="711037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Methotrexate</a:t>
              </a:r>
            </a:p>
          </p:txBody>
        </p:sp>
        <p:sp>
          <p:nvSpPr>
            <p:cNvPr id="61" name="tx61"/>
            <p:cNvSpPr/>
            <p:nvPr/>
          </p:nvSpPr>
          <p:spPr>
            <a:xfrm rot="-1200000">
              <a:off x="5328824" y="5602760"/>
              <a:ext cx="562173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Melphalan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7573569" y="2944597"/>
              <a:ext cx="415046" cy="1093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Net %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7573569" y="3109189"/>
              <a:ext cx="961400" cy="1093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(over − under)</a:t>
              </a:r>
            </a:p>
          </p:txBody>
        </p:sp>
        <p:pic>
          <p:nvPicPr>
            <p:cNvPr id="64" name="pic6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73569" y="3311291"/>
              <a:ext cx="219455" cy="1097280"/>
            </a:xfrm>
            <a:prstGeom prst="rect">
              <a:avLst/>
            </a:prstGeom>
          </p:spPr>
        </p:pic>
        <p:sp>
          <p:nvSpPr>
            <p:cNvPr id="65" name="pl65"/>
            <p:cNvSpPr/>
            <p:nvPr/>
          </p:nvSpPr>
          <p:spPr>
            <a:xfrm>
              <a:off x="7749134" y="4194713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7749134" y="3859931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7749134" y="3525149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7573569" y="4194713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7573569" y="3859931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7573569" y="3525149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tx71"/>
            <p:cNvSpPr/>
            <p:nvPr/>
          </p:nvSpPr>
          <p:spPr>
            <a:xfrm>
              <a:off x="7868940" y="4151005"/>
              <a:ext cx="176113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72" name="tx72"/>
            <p:cNvSpPr/>
            <p:nvPr/>
          </p:nvSpPr>
          <p:spPr>
            <a:xfrm>
              <a:off x="7868940" y="3816223"/>
              <a:ext cx="67757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73" name="tx73"/>
            <p:cNvSpPr/>
            <p:nvPr/>
          </p:nvSpPr>
          <p:spPr>
            <a:xfrm>
              <a:off x="7868940" y="3481440"/>
              <a:ext cx="135514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74" name="tx74"/>
            <p:cNvSpPr/>
            <p:nvPr/>
          </p:nvSpPr>
          <p:spPr>
            <a:xfrm>
              <a:off x="1894492" y="1676115"/>
              <a:ext cx="5343662" cy="1097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Methotrexate &amp; Melphalan over/under-dose vs mGFR — non-indexed GFR</a:t>
              </a:r>
            </a:p>
          </p:txBody>
        </p:sp>
        <p:sp>
          <p:nvSpPr>
            <p:cNvPr id="75" name="tx75"/>
            <p:cNvSpPr/>
            <p:nvPr/>
          </p:nvSpPr>
          <p:spPr>
            <a:xfrm>
              <a:off x="3804169" y="5935856"/>
              <a:ext cx="3541654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Red = net overdosing vs measured GFR · Blue = net underdosing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2026-05-29T11:38:01Z</dcterms:modified>
  <cp:category/>
</cp:coreProperties>
</file>